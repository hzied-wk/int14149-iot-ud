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8"/>
  </p:notesMasterIdLst>
  <p:handoutMasterIdLst>
    <p:handoutMasterId r:id="rId29"/>
  </p:handoutMasterIdLst>
  <p:sldIdLst>
    <p:sldId id="264" r:id="rId3"/>
    <p:sldId id="402" r:id="rId4"/>
    <p:sldId id="331" r:id="rId5"/>
    <p:sldId id="407" r:id="rId6"/>
    <p:sldId id="426" r:id="rId7"/>
    <p:sldId id="415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9" r:id="rId20"/>
    <p:sldId id="440" r:id="rId21"/>
    <p:sldId id="441" r:id="rId22"/>
    <p:sldId id="442" r:id="rId23"/>
    <p:sldId id="443" r:id="rId24"/>
    <p:sldId id="416" r:id="rId25"/>
    <p:sldId id="444" r:id="rId26"/>
    <p:sldId id="280" r:id="rId27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4FF"/>
    <a:srgbClr val="E41CB9"/>
    <a:srgbClr val="E7E7E7"/>
    <a:srgbClr val="FDE2CB"/>
    <a:srgbClr val="FCD6B6"/>
    <a:srgbClr val="FABA86"/>
    <a:srgbClr val="F9B073"/>
    <a:srgbClr val="B0CA7C"/>
    <a:srgbClr val="F9AB6B"/>
    <a:srgbClr val="FAB8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2022" autoAdjust="0"/>
  </p:normalViewPr>
  <p:slideViewPr>
    <p:cSldViewPr snapToObjects="1">
      <p:cViewPr varScale="1">
        <p:scale>
          <a:sx n="72" d="100"/>
          <a:sy n="72" d="100"/>
        </p:scale>
        <p:origin x="132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61" d="100"/>
          <a:sy n="61" d="100"/>
        </p:scale>
        <p:origin x="-1680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DEDA80-2945-4F5A-BE18-00EA5FD1BBB3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7A21C-CB19-4671-AED8-D20320CF72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836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27008-8E94-4BE3-85A4-DBB55C91822D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6913C-23B8-4992-AD31-197833DF1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9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47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97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1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19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00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None/>
            </a:pPr>
            <a:endParaRPr lang="vi-V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57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25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613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31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84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9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486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30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22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196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93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vi-VN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01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426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24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231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18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28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405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https://app.cirkitdesigner.com/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6913C-23B8-4992-AD31-197833DF19A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233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CD90B6-5C48-4F60-AA0F-B8B49C03E614}" type="slidenum">
              <a:rPr lang="en-US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7081"/>
            <a:ext cx="4040188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77989"/>
            <a:ext cx="4040188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857081"/>
            <a:ext cx="4041775" cy="6104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77989"/>
            <a:ext cx="4041775" cy="37704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7FFB2E-43E3-4908-A2AC-5E8437F85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307295"/>
            <a:ext cx="942044" cy="10174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43F67E7-C650-402D-BE77-7034207577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9400" y="6583361"/>
            <a:ext cx="1447800" cy="2116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1288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3008313" cy="10669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09600"/>
            <a:ext cx="5111750" cy="5516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76596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752600"/>
            <a:ext cx="2057400" cy="4373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752600"/>
            <a:ext cx="6019800" cy="4373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FPT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D91002D-DF87-4FB9-865C-A76CFCC7B82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w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EC6FA-7C93-468E-A575-EDCD81EEFF70}" type="datetimeFigureOut">
              <a:rPr lang="en-US" smtClean="0"/>
              <a:pPr/>
              <a:t>8/16/2025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39A09-3475-4C1B-8F36-74BF0EBA845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3" descr="nen 1"/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mocup nam dai.wmf"/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2627" y="6467412"/>
            <a:ext cx="6400800" cy="407855"/>
          </a:xfrm>
          <a:prstGeom prst="rect">
            <a:avLst/>
          </a:prstGeom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752600"/>
            <a:ext cx="8229600" cy="4373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5257800" y="64912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© FPT University 2021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8153400" y="6491288"/>
            <a:ext cx="533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4F1FFC-C151-4ABD-8AD1-CE75123F0C80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1219200"/>
            <a:ext cx="9144000" cy="518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49" r:id="rId12"/>
  </p:sldLayoutIdLst>
  <p:hf hdr="0" dt="0"/>
  <p:txStyles>
    <p:titleStyle>
      <a:lvl1pPr algn="r" defTabSz="457200" rtl="0" eaLnBrk="1" fontAlgn="base" hangingPunct="1">
        <a:spcBef>
          <a:spcPct val="0"/>
        </a:spcBef>
        <a:spcAft>
          <a:spcPct val="0"/>
        </a:spcAft>
        <a:defRPr sz="3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ＭＳ Ｐゴシック" pitchFamily="34" charset="-128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ot-analytics.com/number-connected-iot-devices/?utm_source=chatgpt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hyperlink" Target="https://softteco.com/blog/how-iot-applications-benefit-industries-today?utm_source=chatgpt.com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ircuito.io/" TargetMode="External"/><Relationship Id="rId3" Type="http://schemas.openxmlformats.org/officeDocument/2006/relationships/hyperlink" Target="https://sam-solutions.com/" TargetMode="External"/><Relationship Id="rId7" Type="http://schemas.openxmlformats.org/officeDocument/2006/relationships/hyperlink" Target="https://app.cirkitdesigner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101blockchains.com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www.kajeet.com/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inhandgo.com/" TargetMode="External"/><Relationship Id="rId9" Type="http://schemas.openxmlformats.org/officeDocument/2006/relationships/hyperlink" Target="https://imaginovation.net/blog/iot-development-trends-predictions/?utm_source=chatgpt.co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mocup nam 1.wmf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7433926" cy="4800599"/>
          </a:xfrm>
          <a:prstGeom prst="rect">
            <a:avLst/>
          </a:prstGeom>
        </p:spPr>
      </p:pic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52400" y="77108"/>
            <a:ext cx="6181725" cy="58695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l"/>
            <a:r>
              <a:rPr lang="en-US" sz="3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PTP EDUCATION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42461" y="1469355"/>
            <a:ext cx="8105030" cy="31415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dirty="0">
                <a:solidFill>
                  <a:schemeClr val="bg1"/>
                </a:solidFill>
              </a:rPr>
              <a:t>Internet of Things (IoT):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3600" b="1" dirty="0">
                <a:solidFill>
                  <a:schemeClr val="bg1"/>
                </a:solidFill>
              </a:rPr>
              <a:t>Overview and Applications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1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100" dirty="0">
                <a:solidFill>
                  <a:schemeClr val="bg1"/>
                </a:solidFill>
              </a:rPr>
              <a:t>	Dang Van </a:t>
            </a:r>
            <a:r>
              <a:rPr lang="en-US" sz="2100" dirty="0" err="1">
                <a:solidFill>
                  <a:schemeClr val="bg1"/>
                </a:solidFill>
              </a:rPr>
              <a:t>Hieu</a:t>
            </a:r>
            <a:endParaRPr lang="en-US" sz="21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100" dirty="0">
                <a:solidFill>
                  <a:schemeClr val="bg1"/>
                </a:solidFill>
              </a:rPr>
              <a:t>	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100" dirty="0">
                <a:solidFill>
                  <a:schemeClr val="bg1"/>
                </a:solidFill>
              </a:rPr>
              <a:t>	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100" dirty="0">
              <a:solidFill>
                <a:schemeClr val="bg1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dirty="0">
                <a:solidFill>
                  <a:schemeClr val="bg1"/>
                </a:solidFill>
              </a:rPr>
              <a:t>Date: 01/08/2025</a:t>
            </a:r>
            <a:endParaRPr lang="en-US" b="1" cap="all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4194976" y="4196739"/>
            <a:ext cx="2362200" cy="85113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dirty="0">
                <a:solidFill>
                  <a:schemeClr val="bg1"/>
                </a:solidFill>
                <a:latin typeface="+mj-lt"/>
                <a:cs typeface="Arial" pitchFamily="34" charset="0"/>
              </a:rPr>
              <a:t>Version 2.0</a:t>
            </a:r>
          </a:p>
          <a:p>
            <a:pPr>
              <a:spcBef>
                <a:spcPts val="1063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000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F53387-D1E4-47B1-BC4F-A4DDB80E02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093" y="4965097"/>
            <a:ext cx="1372841" cy="14790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80CC5A8-D730-4B39-A87A-6507CA84A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303DA9-BB5D-42BC-A60B-03AB265F4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87" y="1417638"/>
            <a:ext cx="8429625" cy="4429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37DFEF-9AEF-4970-A20A-A09098C135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7B446BE-97F9-4D22-9119-2281950E54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6566797"/>
            <a:ext cx="1295400" cy="226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0453B-9742-4F5E-8846-20C4323742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6532761"/>
            <a:ext cx="2029108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694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7772400" cy="4373563"/>
          </a:xfrm>
        </p:spPr>
        <p:txBody>
          <a:bodyPr>
            <a:normAutofit fontScale="85000" lnSpcReduction="20000"/>
          </a:bodyPr>
          <a:lstStyle/>
          <a:p>
            <a:pPr marR="0" algn="just">
              <a:buFont typeface="Wingdings" panose="05000000000000000000" pitchFamily="2" charset="2"/>
              <a:buChar char="Ø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Definition: IoT refers to internet-connected devices that collect and transmit data.</a:t>
            </a:r>
          </a:p>
          <a:p>
            <a:pPr marR="0" algn="just">
              <a:buFont typeface="Wingdings" panose="05000000000000000000" pitchFamily="2" charset="2"/>
              <a:buChar char="Ø"/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just">
              <a:buFont typeface="Wingdings" panose="05000000000000000000" pitchFamily="2" charset="2"/>
              <a:buChar char="Ø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Number of global connections: ~16.6 billion devices by the end of 2023, expected to reach 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~27 billion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by 2025 (</a:t>
            </a:r>
            <a:r>
              <a:rPr lang="en-US" sz="3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iot-analytics.com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R="0" algn="just">
              <a:buFont typeface="Wingdings" panose="05000000000000000000" pitchFamily="2" charset="2"/>
              <a:buChar char="Ø"/>
            </a:pPr>
            <a:endParaRPr lang="en-US" sz="3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just">
              <a:buFont typeface="Wingdings" panose="05000000000000000000" pitchFamily="2" charset="2"/>
              <a:buChar char="Ø"/>
            </a:pP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 size: Projected to be 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$618 billion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2025, growing to </a:t>
            </a:r>
            <a:r>
              <a:rPr lang="en-U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$3.6 trillion by 2034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30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softteco.com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619BB9-EDF0-45C4-A5FF-3308467C8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2C1685-D8F0-4639-9BA0-075A91CDE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6532422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60B7A0-D652-4B71-A5F8-DDA9DF3945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57" y="152400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0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 of Things - (IoT) - Electronics Innovation">
            <a:extLst>
              <a:ext uri="{FF2B5EF4-FFF2-40B4-BE49-F238E27FC236}">
                <a16:creationId xmlns:a16="http://schemas.microsoft.com/office/drawing/2014/main" id="{AC67E08F-9734-4AC9-A750-CD497B27F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70709"/>
            <a:ext cx="8686800" cy="5282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7A42746-6DBD-4585-A041-0F1384D51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IoT Trends (2025)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3B8901-3DC1-4670-8D4E-873D3FF7C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6583362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CA5E3F-6EFF-481C-943D-BBDA06EC4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76200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3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7772400" cy="4373563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IoT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&amp;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5G/Private 5G/LPWA (e.g., NB‑IoT)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Sustainable IoT (Green IoT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EF8420A-8CAF-4480-A239-2B9C5116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IoT Trends (2025)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B586C6-C513-459B-80B2-BD08175F5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52" y="6547264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B15B0A-C9D1-4608-BBBC-8F852C3E2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1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A47A0C-93BB-46CE-9C21-751CF74F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BBEFB8B-83C8-40BC-A1E8-22FAFB07B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3173"/>
            <a:ext cx="9144000" cy="543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57F355-ACF1-46DA-A852-83A52D07C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6521475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7FF180-5E71-4AD3-B50C-53E109A9C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0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03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509" y="1222513"/>
            <a:ext cx="8572500" cy="3657600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Industrial IoT (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IIoT</a:t>
            </a: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 machine downtime – boosts productivity by up to 25% – cuts maintenance costs by 30%</a:t>
            </a:r>
            <a:endParaRPr lang="en-US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 data synchronization from machines, robots, and operators – enables automation and process optimization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612826-1D69-42B8-A364-F4C526FA8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302245"/>
            <a:ext cx="6477000" cy="31557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B84B7C9-D6D4-43D1-B4AA-F578DD03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6511536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65B27-2B7F-4039-9CBC-D257E3FB3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7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257" y="1219200"/>
            <a:ext cx="8877300" cy="5216136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Edge Computing &amp; </a:t>
            </a:r>
            <a:r>
              <a:rPr lang="en-US" sz="24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endParaRPr lang="en-US" sz="2400" b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data processing reduces latency, saves bandwidth, and enhances security</a:t>
            </a:r>
            <a:endParaRPr lang="en-US" sz="21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integrated at the edge allows immediate data analysis and automated alerts</a:t>
            </a:r>
            <a:endParaRPr lang="en-US" sz="2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5124" name="Picture 4" descr="IoT Edge Intelligence Solutions and Services - Advantech">
            <a:extLst>
              <a:ext uri="{FF2B5EF4-FFF2-40B4-BE49-F238E27FC236}">
                <a16:creationId xmlns:a16="http://schemas.microsoft.com/office/drawing/2014/main" id="{2982389C-F00F-4EF7-B596-03E3BF7FE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2" y="2971800"/>
            <a:ext cx="9130748" cy="353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D14309-5506-4F39-94D4-7AFDDFBCC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6570567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654F9-4109-4C89-918B-B76671700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4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572500" cy="4038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5G, NB‑IoT, and Private Networks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enables low latency and high bandwidth for real-time industrial and traffic applications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NB‑IoT used for utilities and public alerts (e.g., Vodafone Spain with 9.3 million connected devices for water meters and emergency V16 lights)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7170" name="Picture 2" descr="5G and IoT: Everything you need to know | floLIVE">
            <a:extLst>
              <a:ext uri="{FF2B5EF4-FFF2-40B4-BE49-F238E27FC236}">
                <a16:creationId xmlns:a16="http://schemas.microsoft.com/office/drawing/2014/main" id="{604516D3-E679-4680-9FAA-EB8713FE0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0" y="3768337"/>
            <a:ext cx="9110871" cy="274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F5D6C2C-1FCC-4496-8312-3FD7B6E93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6557719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817E9-16BB-44DC-9CFD-AE44FC933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2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911" y="1364566"/>
            <a:ext cx="8966177" cy="39624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Agriculture (Precision Farming)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Soil, water, and nutrient sensors adjust irrigation and fertilizer in real-time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technologies: biodegradable sensors, drones – improve yield and resource efficiency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6386" name="Picture 2" descr="IoT in precision agriculture. | Download Scientific Diagram">
            <a:extLst>
              <a:ext uri="{FF2B5EF4-FFF2-40B4-BE49-F238E27FC236}">
                <a16:creationId xmlns:a16="http://schemas.microsoft.com/office/drawing/2014/main" id="{077EF68D-5BC0-4DC1-B1AB-AC3E5CDD3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833" y="2667000"/>
            <a:ext cx="3727134" cy="376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5D72AB-5C41-4B9F-B674-1451B9AE2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6573078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58B80B-21EF-4B96-B763-3AD1EFF708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0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72500" cy="4191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Healthcare (IoMT)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Wearables monitor heart rate,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₂, and sleep (e.g., smartwatches)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hospital beds automatically adjust and detect patient movement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“Virtual Wards”: remote monitoring with IoT sensors and telehealth services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5362" name="Picture 2" descr="Healthcare Internet of Things (H-IoT): Current Trends, Future Prospects,  Applications, Challenges, and Security Issues">
            <a:extLst>
              <a:ext uri="{FF2B5EF4-FFF2-40B4-BE49-F238E27FC236}">
                <a16:creationId xmlns:a16="http://schemas.microsoft.com/office/drawing/2014/main" id="{9C7209D4-DCAC-42F2-BDBA-188708F4A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199" y="2895600"/>
            <a:ext cx="4757635" cy="3387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0B339F-D207-4ED1-8418-4ABA554FE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6481719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9E5C30-138E-4FC7-88C7-3ACE951FC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884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600200"/>
            <a:ext cx="2895600" cy="42884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Smart Cities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infrastructure management: water systems, streetlights, traffic, and waste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sensors support water monitoring and road safety (e.g., emergency lights)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4340" name="Picture 4" descr="An illustration of IoT based smart city. | Download Scientific Diagram">
            <a:extLst>
              <a:ext uri="{FF2B5EF4-FFF2-40B4-BE49-F238E27FC236}">
                <a16:creationId xmlns:a16="http://schemas.microsoft.com/office/drawing/2014/main" id="{2C828227-E374-4F71-AEC9-E88D573D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597" y="1696722"/>
            <a:ext cx="5970403" cy="397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D4F2F0-6C39-45CA-8CF1-A71C3B294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798" y="6544467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F1825C-B795-48D4-8851-FE19E40AC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03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31536"/>
            <a:ext cx="8801100" cy="3657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Vehicles (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 communicate with each other and infrastructure (V2V and V2X)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vehicles enable OTA updates, accident alerts, and real-time navigation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457BD6-BE92-4CD5-BE64-0928FB17A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2485712"/>
            <a:ext cx="6781800" cy="39031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7DAA918-B466-448F-8F2A-147F6BB90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6544063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AC1A51-3A11-4ACF-81EA-82B35CDC0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60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1371600"/>
            <a:ext cx="9023466" cy="3657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Logistics &amp; Supply Chain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track shipment location, temperature, and humidity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in warehouses: robots, RFID, material flow optimization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2290" name="Picture 2" descr="How IoT transforms Supply Chain and Logistics operations with smart  solutions?">
            <a:extLst>
              <a:ext uri="{FF2B5EF4-FFF2-40B4-BE49-F238E27FC236}">
                <a16:creationId xmlns:a16="http://schemas.microsoft.com/office/drawing/2014/main" id="{75308DF1-AE76-4AFA-B647-5C8657011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698" y="2667000"/>
            <a:ext cx="9153698" cy="3817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4FCF6C1-BA67-49C9-9DC4-B128B36EE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6570972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C163CD-C913-4282-BD67-74A88018F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89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74" y="1249017"/>
            <a:ext cx="8839200" cy="3657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Hospitality &amp; Smart Homes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optimize staffing, HVAC, and lighting using IoT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homes feature automated lighting, cleaning robots, security, and elderly care systems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1270" name="Picture 6" descr="IoT in Hospitality: Hotel Automation Trends and Use Cases">
            <a:extLst>
              <a:ext uri="{FF2B5EF4-FFF2-40B4-BE49-F238E27FC236}">
                <a16:creationId xmlns:a16="http://schemas.microsoft.com/office/drawing/2014/main" id="{775EEF97-C493-4BF0-8106-CFD639476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848900"/>
            <a:ext cx="7003774" cy="359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0CD3656-DB07-4752-B850-F412E8D47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6570972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81C2AC-CB07-4D35-9F72-5F2E5F53B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6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72499" cy="4191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in Security &amp; Defense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shows IoT plays a critical role in military and emergency applications for safety and resource management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</a:t>
            </a:r>
          </a:p>
        </p:txBody>
      </p:sp>
      <p:pic>
        <p:nvPicPr>
          <p:cNvPr id="10242" name="Picture 2" descr="IoT, AI, and the future battlefield - Military Embedded Systems">
            <a:extLst>
              <a:ext uri="{FF2B5EF4-FFF2-40B4-BE49-F238E27FC236}">
                <a16:creationId xmlns:a16="http://schemas.microsoft.com/office/drawing/2014/main" id="{931AFE15-A7E0-4C7A-AC6E-E42CC9656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1" y="2533763"/>
            <a:ext cx="7462838" cy="394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AB0BBC-4147-4868-9D1A-15784B519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6511536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75B55A-1178-489F-9BB9-31AB5A799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43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725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1: Security &amp; Privacy Risks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Billions of connected devices → huge attack surface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 in hardware, outdated firmware, default passwords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Mirai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botnet (DDoS via IoT cameras), healthcare data leaks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Loss of trust, legal violations (e.g., GDPR)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A0471-0709-4B72-A7A9-1C2EBA6A0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553200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3E964-32ED-48BF-9622-907739ED5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9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603399" y="1524000"/>
            <a:ext cx="8305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Secure-by-Design IoT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encryption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devices and cloud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boot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identity management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zero-trust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Firmware Over-The-Air (FOTA) for timely updates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Adoption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security frameworks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NIST, ETSI)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073C60-9F59-494D-8C8E-28419B66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11536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2BBCE1-0909-414B-8D87-CBEE539F2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4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346000" y="1524000"/>
            <a:ext cx="8756799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2: Interoperability &amp; Standardization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Diverse vendors → incompatible protocols &amp; platforms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unified standards leads to data silos and limited scalability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Hinders integration across smart cities, industries, homes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90D242-87F2-4E6F-997E-C8FA86B24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511536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E14B4-0082-4DAC-86DC-B1EFFA6DB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3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346000" y="1676400"/>
            <a:ext cx="8756799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Open Standards &amp; Ecosystem Collaboration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open-source platforms (e.g.,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Matter, MQTT, OPC-UA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alliances: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Consortium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Internet Consortium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involvement in regulation and certification (e.g., FCC, CE)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API-based architecture to support interoperability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8194B3-9636-48BD-A2E1-FD1D4CA25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00789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4D6BF1-257B-472B-A225-37BE3E5FC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78977D-E1F6-4B12-8870-349BAA1D0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57" y="2831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9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152400" y="1447800"/>
            <a:ext cx="8950399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 3: Challenge 3: Power Consumption &amp; Sustainability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Issues</a:t>
            </a:r>
            <a:r>
              <a:rPr lang="en-US" sz="22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IoT devices operate in remote or off-grid areas with no stable power supply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replacement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costly, time-consuming, and environmentally unfriendly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data centers (cloud &amp; edge) consume significant energy, contributing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CO₂ emissions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conflict with global green targets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Consequences</a:t>
            </a:r>
            <a:r>
              <a:rPr lang="en-US" sz="22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scalability of large-scale IoT deployments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conflict between IoT growth and carbon neutrality goals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AABFC8-9CC0-41D0-A6F8-0506D94B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6597476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B2A8F3-8EA0-4E6F-BE17-7DA69598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09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387201" y="1219200"/>
            <a:ext cx="8756799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Solution: Green IoT &amp; Energy-Efficient Technologies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Solutions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self-powered sensors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harvest: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energy, vibrations, magnetic fields, or ambient heat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next-gen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ultra-low-power IoT chipsets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AI (Edge AI)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minimize reliance on cloud processing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 Approaches</a:t>
            </a:r>
            <a:r>
              <a:rPr lang="en-US" sz="2200" dirty="0">
                <a:solidFill>
                  <a:srgbClr val="0064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device design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Recyclable materials, repairable components, reduced e-waste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“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IoT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models in agriculture, transportation, and smart homes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0EBBF4-CBF4-410C-B61D-6E8B29898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11536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DDA33E-A1C2-42A6-82BF-6EA5FFAEB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88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19549"/>
            <a:ext cx="8382000" cy="523005"/>
          </a:xfrm>
        </p:spPr>
        <p:txBody>
          <a:bodyPr/>
          <a:lstStyle/>
          <a:p>
            <a:r>
              <a:rPr lang="en-GB" sz="3600" dirty="0"/>
              <a:t>The smart world of the future – using </a:t>
            </a:r>
            <a:r>
              <a:rPr lang="en-GB" sz="3600" dirty="0" err="1"/>
              <a:t>Iot</a:t>
            </a:r>
            <a:endParaRPr lang="en-US" sz="3600" dirty="0"/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696CF9DD-4897-4B07-AE42-92018AB44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1" y="1311965"/>
            <a:ext cx="9134099" cy="5526157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EFB1E4-B6D8-46A0-91F3-3150AB7FE9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368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79348CB-8F20-4BA9-9C7B-244D9E48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346464"/>
            <a:ext cx="8305800" cy="872736"/>
          </a:xfrm>
        </p:spPr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GB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572405-101C-47CD-B5F0-A864D8A1F315}"/>
              </a:ext>
            </a:extLst>
          </p:cNvPr>
          <p:cNvSpPr txBox="1">
            <a:spLocks/>
          </p:cNvSpPr>
          <p:nvPr/>
        </p:nvSpPr>
        <p:spPr bwMode="auto">
          <a:xfrm>
            <a:off x="838200" y="1447800"/>
            <a:ext cx="8305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Arial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https://sam-solutions.com/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https://inhandgo.com/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https://www.kajeet.com/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https://101blockchains.com/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https://app.cirkitdesigner.com/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https://www.circuito.io/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[7].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https://imaginovation.net/blog/iot-development-trends-predictions/?utm_source=chatgpt.com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00A4F3-604D-45A3-8855-10524E8AFF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6547979"/>
            <a:ext cx="2029108" cy="257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90888C-E340-42B5-BEE2-E948547E4C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40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y We Need IoT (Internet of Things) ???">
            <a:extLst>
              <a:ext uri="{FF2B5EF4-FFF2-40B4-BE49-F238E27FC236}">
                <a16:creationId xmlns:a16="http://schemas.microsoft.com/office/drawing/2014/main" id="{07985623-9EE5-4E18-9016-3B47869A9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92679"/>
            <a:ext cx="8729492" cy="522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EB8144-8012-4783-997C-DE6607CA42BE}"/>
              </a:ext>
            </a:extLst>
          </p:cNvPr>
          <p:cNvSpPr txBox="1"/>
          <p:nvPr/>
        </p:nvSpPr>
        <p:spPr>
          <a:xfrm>
            <a:off x="2549236" y="477126"/>
            <a:ext cx="457892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buFont typeface="Arial" pitchFamily="34" charset="0"/>
              <a:buNone/>
            </a:pPr>
            <a:r>
              <a:rPr lang="en-US" altLang="ja-JP" sz="3400" b="1" dirty="0">
                <a:solidFill>
                  <a:srgbClr val="FF0000"/>
                </a:solidFill>
              </a:rPr>
              <a:t>Thank you!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8182D9-0D98-4872-8F39-0D86BA58B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608" y="6600789"/>
            <a:ext cx="2029108" cy="2572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05EC65-5DDA-4D1A-B92B-240FFA62D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757" y="130758"/>
            <a:ext cx="1014413" cy="10928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soft_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11986</TotalTime>
  <Words>983</Words>
  <Application>Microsoft Office PowerPoint</Application>
  <PresentationFormat>On-screen Show (4:3)</PresentationFormat>
  <Paragraphs>146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Open Sans</vt:lpstr>
      <vt:lpstr>Times New Roman</vt:lpstr>
      <vt:lpstr>Wingdings</vt:lpstr>
      <vt:lpstr>Custom Design</vt:lpstr>
      <vt:lpstr>Fsoft_theme</vt:lpstr>
      <vt:lpstr>PowerPoint Presentation</vt:lpstr>
      <vt:lpstr>Introduction</vt:lpstr>
      <vt:lpstr>Introduction</vt:lpstr>
      <vt:lpstr>Key IoT Trends (2025)</vt:lpstr>
      <vt:lpstr>Key IoT Trends (2025)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Application</vt:lpstr>
      <vt:lpstr>IoT Challenge</vt:lpstr>
      <vt:lpstr>IoT Challenge</vt:lpstr>
      <vt:lpstr>IoT Challenge</vt:lpstr>
      <vt:lpstr>IoT Challenge</vt:lpstr>
      <vt:lpstr>IoT Challenge</vt:lpstr>
      <vt:lpstr>IoT Challenge</vt:lpstr>
      <vt:lpstr>The smart world of the future – using Iot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Trong Nhan</dc:creator>
  <cp:lastModifiedBy>Đặng Văn Hiếu</cp:lastModifiedBy>
  <cp:revision>970</cp:revision>
  <dcterms:created xsi:type="dcterms:W3CDTF">2010-09-14T03:27:51Z</dcterms:created>
  <dcterms:modified xsi:type="dcterms:W3CDTF">2025-08-16T06:44:08Z</dcterms:modified>
</cp:coreProperties>
</file>
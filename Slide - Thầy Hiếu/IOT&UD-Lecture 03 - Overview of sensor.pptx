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20"/>
  </p:notesMasterIdLst>
  <p:handoutMasterIdLst>
    <p:handoutMasterId r:id="rId21"/>
  </p:handoutMasterIdLst>
  <p:sldIdLst>
    <p:sldId id="264" r:id="rId3"/>
    <p:sldId id="295" r:id="rId4"/>
    <p:sldId id="451" r:id="rId5"/>
    <p:sldId id="453" r:id="rId6"/>
    <p:sldId id="454" r:id="rId7"/>
    <p:sldId id="450" r:id="rId8"/>
    <p:sldId id="432" r:id="rId9"/>
    <p:sldId id="433" r:id="rId10"/>
    <p:sldId id="434" r:id="rId11"/>
    <p:sldId id="437" r:id="rId12"/>
    <p:sldId id="435" r:id="rId13"/>
    <p:sldId id="439" r:id="rId14"/>
    <p:sldId id="438" r:id="rId15"/>
    <p:sldId id="440" r:id="rId16"/>
    <p:sldId id="441" r:id="rId17"/>
    <p:sldId id="442" r:id="rId18"/>
    <p:sldId id="430" r:id="rId19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1CB9"/>
    <a:srgbClr val="0064FF"/>
    <a:srgbClr val="E7E7E7"/>
    <a:srgbClr val="FDE2CB"/>
    <a:srgbClr val="FCD6B6"/>
    <a:srgbClr val="FABA86"/>
    <a:srgbClr val="F9B073"/>
    <a:srgbClr val="B0CA7C"/>
    <a:srgbClr val="F9AB6B"/>
    <a:srgbClr val="FAB8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1" autoAdjust="0"/>
    <p:restoredTop sz="94249" autoAdjust="0"/>
  </p:normalViewPr>
  <p:slideViewPr>
    <p:cSldViewPr snapToObjects="1">
      <p:cViewPr varScale="1">
        <p:scale>
          <a:sx n="70" d="100"/>
          <a:sy n="70" d="100"/>
        </p:scale>
        <p:origin x="48" y="-13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206"/>
    </p:cViewPr>
  </p:outlineViewPr>
  <p:notesTextViewPr>
    <p:cViewPr>
      <p:scale>
        <a:sx n="125" d="100"/>
        <a:sy n="125" d="100"/>
      </p:scale>
      <p:origin x="0" y="0"/>
    </p:cViewPr>
  </p:notesTextViewPr>
  <p:notesViewPr>
    <p:cSldViewPr snapToObjects="1">
      <p:cViewPr varScale="1">
        <p:scale>
          <a:sx n="61" d="100"/>
          <a:sy n="61" d="100"/>
        </p:scale>
        <p:origin x="-1680" y="-7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DEDA80-2945-4F5A-BE18-00EA5FD1BBB3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A7A21C-CB19-4671-AED8-D20320CF72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8365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27008-8E94-4BE3-85A4-DBB55C91822D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36913C-23B8-4992-AD31-197833DF1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89256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30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339227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30648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45332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53963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endParaRPr lang="en-US" sz="1800" b="0" i="0" dirty="0">
              <a:solidFill>
                <a:srgbClr val="000000"/>
              </a:solidFill>
              <a:effectLst/>
              <a:latin typeface="YhblpwAdvP6975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44485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algn="just"/>
            <a:endParaRPr lang="vi-VN" b="0" i="0" dirty="0">
              <a:solidFill>
                <a:srgbClr val="777777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87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endParaRPr lang="vi-VN" b="0" i="0" dirty="0">
              <a:solidFill>
                <a:srgbClr val="777777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1646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algn="just"/>
            <a:endParaRPr lang="vi-VN" b="0" i="0" dirty="0">
              <a:solidFill>
                <a:srgbClr val="777777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011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vi-VN" b="0" i="0" dirty="0">
              <a:solidFill>
                <a:srgbClr val="777777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097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vi-VN" b="0" i="0" dirty="0">
              <a:solidFill>
                <a:srgbClr val="777777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2479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algn="just"/>
            <a:endParaRPr lang="vi-VN" b="0" i="0" dirty="0">
              <a:solidFill>
                <a:srgbClr val="777777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3573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vi-VN" b="0" i="0" dirty="0">
              <a:solidFill>
                <a:srgbClr val="777777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9999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algn="just"/>
            <a:endParaRPr lang="vi-VN" b="0" i="0" dirty="0">
              <a:solidFill>
                <a:srgbClr val="777777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4308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endParaRPr lang="vi-VN" b="0" i="0" dirty="0">
              <a:solidFill>
                <a:srgbClr val="777777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6680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endParaRPr lang="vi-VN" b="0" i="0" dirty="0">
              <a:solidFill>
                <a:srgbClr val="777777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19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91288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7081"/>
            <a:ext cx="4040188" cy="6104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77989"/>
            <a:ext cx="4040188" cy="37704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857081"/>
            <a:ext cx="4041775" cy="6104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77989"/>
            <a:ext cx="4041775" cy="37704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91288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91288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3008313" cy="10669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609600"/>
            <a:ext cx="5111750" cy="5516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76596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752600"/>
            <a:ext cx="2057400" cy="4373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752600"/>
            <a:ext cx="6019800" cy="4373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57800" y="6491288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FPT University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53400" y="6491288"/>
            <a:ext cx="533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D91002D-DF87-4FB9-865C-A76CFCC7B82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wmf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EC6FA-7C93-468E-A575-EDCD81EEFF70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3" descr="nen 1"/>
          <p:cNvPicPr>
            <a:picLocks noChangeAspect="1" noChangeArrowheads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mocup nam dai.wmf"/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2627" y="6467412"/>
            <a:ext cx="6400800" cy="407855"/>
          </a:xfrm>
          <a:prstGeom prst="rect">
            <a:avLst/>
          </a:prstGeom>
        </p:spPr>
      </p:pic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752600"/>
            <a:ext cx="8229600" cy="437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 txBox="1">
            <a:spLocks/>
          </p:cNvSpPr>
          <p:nvPr/>
        </p:nvSpPr>
        <p:spPr>
          <a:xfrm>
            <a:off x="5257800" y="6491288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© FPT University 2025</a:t>
            </a:r>
          </a:p>
        </p:txBody>
      </p:sp>
      <p:sp>
        <p:nvSpPr>
          <p:cNvPr id="8" name="Slide Number Placeholder 5"/>
          <p:cNvSpPr txBox="1">
            <a:spLocks/>
          </p:cNvSpPr>
          <p:nvPr/>
        </p:nvSpPr>
        <p:spPr>
          <a:xfrm>
            <a:off x="8153400" y="6491288"/>
            <a:ext cx="533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4F1FFC-C151-4ABD-8AD1-CE75123F0C8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1219200"/>
            <a:ext cx="9144000" cy="518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49" r:id="rId12"/>
  </p:sldLayoutIdLst>
  <p:hf hdr="0" dt="0"/>
  <p:txStyles>
    <p:titleStyle>
      <a:lvl1pPr algn="r" defTabSz="457200" rtl="0" eaLnBrk="1" fontAlgn="base" hangingPunct="1">
        <a:spcBef>
          <a:spcPct val="0"/>
        </a:spcBef>
        <a:spcAft>
          <a:spcPct val="0"/>
        </a:spcAft>
        <a:defRPr sz="3800" kern="1200">
          <a:solidFill>
            <a:schemeClr val="tx1"/>
          </a:solidFill>
          <a:latin typeface="+mj-lt"/>
          <a:ea typeface="ＭＳ Ｐゴシック" pitchFamily="34" charset="-128"/>
          <a:cs typeface="Arial" pitchFamily="34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j-lt"/>
          <a:ea typeface="ＭＳ Ｐゴシック" pitchFamily="34" charset="-128"/>
          <a:cs typeface="Arial" pitchFamily="34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j-lt"/>
          <a:ea typeface="ＭＳ Ｐゴシック" pitchFamily="34" charset="-128"/>
          <a:cs typeface="Arial" pitchFamily="34" charset="0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ＭＳ Ｐゴシック" pitchFamily="34" charset="-128"/>
          <a:cs typeface="Arial" pitchFamily="34" charset="0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ＭＳ Ｐゴシック" pitchFamily="34" charset="-128"/>
          <a:cs typeface="Arial" pitchFamily="34" charset="0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ＭＳ Ｐゴシック" pitchFamily="34" charset="-128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7.png"/><Relationship Id="rId4" Type="http://schemas.openxmlformats.org/officeDocument/2006/relationships/image" Target="../media/image12.png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35.png"/><Relationship Id="rId4" Type="http://schemas.openxmlformats.org/officeDocument/2006/relationships/image" Target="../media/image3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mocup nam 1.wmf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79611"/>
            <a:ext cx="7433926" cy="4800599"/>
          </a:xfrm>
          <a:prstGeom prst="rect">
            <a:avLst/>
          </a:prstGeom>
        </p:spPr>
      </p:pic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469127" y="2081617"/>
            <a:ext cx="6309360" cy="77162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4400" b="1" dirty="0">
                <a:solidFill>
                  <a:schemeClr val="bg1"/>
                </a:solidFill>
              </a:rPr>
              <a:t>Overview of sensor</a:t>
            </a:r>
            <a:r>
              <a:rPr lang="en-US" sz="4400" dirty="0">
                <a:solidFill>
                  <a:schemeClr val="bg1"/>
                </a:solidFill>
              </a:rPr>
              <a:t> </a:t>
            </a:r>
            <a:endParaRPr lang="en-US" sz="4400" b="1" cap="all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3505200" y="4217792"/>
            <a:ext cx="2362200" cy="85113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1063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dirty="0">
                <a:solidFill>
                  <a:schemeClr val="bg1"/>
                </a:solidFill>
                <a:latin typeface="+mj-lt"/>
                <a:cs typeface="Arial" pitchFamily="34" charset="0"/>
              </a:rPr>
              <a:t>Version 3.0</a:t>
            </a:r>
          </a:p>
          <a:p>
            <a:pPr>
              <a:spcBef>
                <a:spcPts val="1063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711C0B90-7F11-4CF1-8ED1-CEE002FE7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201514"/>
            <a:ext cx="2362200" cy="85113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1063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dirty="0">
                <a:solidFill>
                  <a:schemeClr val="bg1"/>
                </a:solidFill>
                <a:latin typeface="+mj-lt"/>
                <a:cs typeface="Arial" pitchFamily="34" charset="0"/>
              </a:rPr>
              <a:t>11/08/2025</a:t>
            </a:r>
          </a:p>
          <a:p>
            <a:pPr>
              <a:spcBef>
                <a:spcPts val="1063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0B1BE378-E1B5-4AEF-A6A5-521837041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77108"/>
            <a:ext cx="6181725" cy="58695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l"/>
            <a:r>
              <a:rPr lang="en-US" sz="32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PTIT EDUCATION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53F931-4A83-4BDD-8298-0EE5E62AD1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4091" y="4270792"/>
            <a:ext cx="2173898" cy="234204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3178AB1-8CB4-45A3-9062-8FA23E8CC3F2}"/>
              </a:ext>
            </a:extLst>
          </p:cNvPr>
          <p:cNvGrpSpPr/>
          <p:nvPr/>
        </p:nvGrpSpPr>
        <p:grpSpPr>
          <a:xfrm>
            <a:off x="0" y="1119901"/>
            <a:ext cx="5943600" cy="535415"/>
            <a:chOff x="-1" y="546100"/>
            <a:chExt cx="4628357" cy="8280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90180E4-2DA3-4A53-9D76-F0FD54A89C99}"/>
                </a:ext>
              </a:extLst>
            </p:cNvPr>
            <p:cNvGrpSpPr/>
            <p:nvPr/>
          </p:nvGrpSpPr>
          <p:grpSpPr>
            <a:xfrm>
              <a:off x="-1" y="546100"/>
              <a:ext cx="3942557" cy="828000"/>
              <a:chOff x="-1" y="546100"/>
              <a:chExt cx="3942557" cy="828000"/>
            </a:xfrm>
          </p:grpSpPr>
          <p:sp>
            <p:nvSpPr>
              <p:cNvPr id="18" name="object 25">
                <a:extLst>
                  <a:ext uri="{FF2B5EF4-FFF2-40B4-BE49-F238E27FC236}">
                    <a16:creationId xmlns:a16="http://schemas.microsoft.com/office/drawing/2014/main" id="{7CA90AAE-D612-48FE-910B-C266F9F166E3}"/>
                  </a:ext>
                </a:extLst>
              </p:cNvPr>
              <p:cNvSpPr/>
              <p:nvPr/>
            </p:nvSpPr>
            <p:spPr>
              <a:xfrm>
                <a:off x="-1" y="546100"/>
                <a:ext cx="3256757" cy="828000"/>
              </a:xfrm>
              <a:custGeom>
                <a:avLst/>
                <a:gdLst/>
                <a:ahLst/>
                <a:cxnLst/>
                <a:rect l="l" t="t" r="r" b="b"/>
                <a:pathLst>
                  <a:path w="1955164" h="437514">
                    <a:moveTo>
                      <a:pt x="1736031" y="0"/>
                    </a:moveTo>
                    <a:lnTo>
                      <a:pt x="0" y="0"/>
                    </a:lnTo>
                    <a:lnTo>
                      <a:pt x="0" y="437153"/>
                    </a:lnTo>
                    <a:lnTo>
                      <a:pt x="1736031" y="437153"/>
                    </a:lnTo>
                    <a:lnTo>
                      <a:pt x="1786148" y="431380"/>
                    </a:lnTo>
                    <a:lnTo>
                      <a:pt x="1832155" y="414936"/>
                    </a:lnTo>
                    <a:lnTo>
                      <a:pt x="1872739" y="389134"/>
                    </a:lnTo>
                    <a:lnTo>
                      <a:pt x="1906588" y="355285"/>
                    </a:lnTo>
                    <a:lnTo>
                      <a:pt x="1932391" y="314701"/>
                    </a:lnTo>
                    <a:lnTo>
                      <a:pt x="1948834" y="268694"/>
                    </a:lnTo>
                    <a:lnTo>
                      <a:pt x="1954607" y="218577"/>
                    </a:lnTo>
                    <a:lnTo>
                      <a:pt x="1948834" y="168459"/>
                    </a:lnTo>
                    <a:lnTo>
                      <a:pt x="1932391" y="122452"/>
                    </a:lnTo>
                    <a:lnTo>
                      <a:pt x="1906588" y="81868"/>
                    </a:lnTo>
                    <a:lnTo>
                      <a:pt x="1872739" y="48018"/>
                    </a:lnTo>
                    <a:lnTo>
                      <a:pt x="1832155" y="22216"/>
                    </a:lnTo>
                    <a:lnTo>
                      <a:pt x="1786148" y="5772"/>
                    </a:lnTo>
                    <a:lnTo>
                      <a:pt x="1736031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9" name="object 25">
                <a:extLst>
                  <a:ext uri="{FF2B5EF4-FFF2-40B4-BE49-F238E27FC236}">
                    <a16:creationId xmlns:a16="http://schemas.microsoft.com/office/drawing/2014/main" id="{8B598FF6-A900-4144-B21C-815E1AE9780F}"/>
                  </a:ext>
                </a:extLst>
              </p:cNvPr>
              <p:cNvSpPr/>
              <p:nvPr/>
            </p:nvSpPr>
            <p:spPr>
              <a:xfrm>
                <a:off x="685799" y="546100"/>
                <a:ext cx="3256757" cy="828000"/>
              </a:xfrm>
              <a:custGeom>
                <a:avLst/>
                <a:gdLst/>
                <a:ahLst/>
                <a:cxnLst/>
                <a:rect l="l" t="t" r="r" b="b"/>
                <a:pathLst>
                  <a:path w="1955164" h="437514">
                    <a:moveTo>
                      <a:pt x="1736031" y="0"/>
                    </a:moveTo>
                    <a:lnTo>
                      <a:pt x="0" y="0"/>
                    </a:lnTo>
                    <a:lnTo>
                      <a:pt x="0" y="437153"/>
                    </a:lnTo>
                    <a:lnTo>
                      <a:pt x="1736031" y="437153"/>
                    </a:lnTo>
                    <a:lnTo>
                      <a:pt x="1786148" y="431380"/>
                    </a:lnTo>
                    <a:lnTo>
                      <a:pt x="1832155" y="414936"/>
                    </a:lnTo>
                    <a:lnTo>
                      <a:pt x="1872739" y="389134"/>
                    </a:lnTo>
                    <a:lnTo>
                      <a:pt x="1906588" y="355285"/>
                    </a:lnTo>
                    <a:lnTo>
                      <a:pt x="1932391" y="314701"/>
                    </a:lnTo>
                    <a:lnTo>
                      <a:pt x="1948834" y="268694"/>
                    </a:lnTo>
                    <a:lnTo>
                      <a:pt x="1954607" y="218577"/>
                    </a:lnTo>
                    <a:lnTo>
                      <a:pt x="1948834" y="168459"/>
                    </a:lnTo>
                    <a:lnTo>
                      <a:pt x="1932391" y="122452"/>
                    </a:lnTo>
                    <a:lnTo>
                      <a:pt x="1906588" y="81868"/>
                    </a:lnTo>
                    <a:lnTo>
                      <a:pt x="1872739" y="48018"/>
                    </a:lnTo>
                    <a:lnTo>
                      <a:pt x="1832155" y="22216"/>
                    </a:lnTo>
                    <a:lnTo>
                      <a:pt x="1786148" y="5772"/>
                    </a:lnTo>
                    <a:lnTo>
                      <a:pt x="1736031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3BF25CA-CBCA-4729-956F-F8FCA95A8359}"/>
                </a:ext>
              </a:extLst>
            </p:cNvPr>
            <p:cNvGrpSpPr/>
            <p:nvPr/>
          </p:nvGrpSpPr>
          <p:grpSpPr>
            <a:xfrm>
              <a:off x="685799" y="546100"/>
              <a:ext cx="3942557" cy="828000"/>
              <a:chOff x="-1" y="546100"/>
              <a:chExt cx="3942557" cy="828000"/>
            </a:xfrm>
          </p:grpSpPr>
          <p:sp>
            <p:nvSpPr>
              <p:cNvPr id="21" name="object 25">
                <a:extLst>
                  <a:ext uri="{FF2B5EF4-FFF2-40B4-BE49-F238E27FC236}">
                    <a16:creationId xmlns:a16="http://schemas.microsoft.com/office/drawing/2014/main" id="{748C4CD0-A3F7-4A02-9D64-72135F4B81DD}"/>
                  </a:ext>
                </a:extLst>
              </p:cNvPr>
              <p:cNvSpPr/>
              <p:nvPr/>
            </p:nvSpPr>
            <p:spPr>
              <a:xfrm>
                <a:off x="-1" y="546100"/>
                <a:ext cx="3256757" cy="828000"/>
              </a:xfrm>
              <a:custGeom>
                <a:avLst/>
                <a:gdLst/>
                <a:ahLst/>
                <a:cxnLst/>
                <a:rect l="l" t="t" r="r" b="b"/>
                <a:pathLst>
                  <a:path w="1955164" h="437514">
                    <a:moveTo>
                      <a:pt x="1736031" y="0"/>
                    </a:moveTo>
                    <a:lnTo>
                      <a:pt x="0" y="0"/>
                    </a:lnTo>
                    <a:lnTo>
                      <a:pt x="0" y="437153"/>
                    </a:lnTo>
                    <a:lnTo>
                      <a:pt x="1736031" y="437153"/>
                    </a:lnTo>
                    <a:lnTo>
                      <a:pt x="1786148" y="431380"/>
                    </a:lnTo>
                    <a:lnTo>
                      <a:pt x="1832155" y="414936"/>
                    </a:lnTo>
                    <a:lnTo>
                      <a:pt x="1872739" y="389134"/>
                    </a:lnTo>
                    <a:lnTo>
                      <a:pt x="1906588" y="355285"/>
                    </a:lnTo>
                    <a:lnTo>
                      <a:pt x="1932391" y="314701"/>
                    </a:lnTo>
                    <a:lnTo>
                      <a:pt x="1948834" y="268694"/>
                    </a:lnTo>
                    <a:lnTo>
                      <a:pt x="1954607" y="218577"/>
                    </a:lnTo>
                    <a:lnTo>
                      <a:pt x="1948834" y="168459"/>
                    </a:lnTo>
                    <a:lnTo>
                      <a:pt x="1932391" y="122452"/>
                    </a:lnTo>
                    <a:lnTo>
                      <a:pt x="1906588" y="81868"/>
                    </a:lnTo>
                    <a:lnTo>
                      <a:pt x="1872739" y="48018"/>
                    </a:lnTo>
                    <a:lnTo>
                      <a:pt x="1832155" y="22216"/>
                    </a:lnTo>
                    <a:lnTo>
                      <a:pt x="1786148" y="5772"/>
                    </a:lnTo>
                    <a:lnTo>
                      <a:pt x="1736031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2" name="object 25">
                <a:extLst>
                  <a:ext uri="{FF2B5EF4-FFF2-40B4-BE49-F238E27FC236}">
                    <a16:creationId xmlns:a16="http://schemas.microsoft.com/office/drawing/2014/main" id="{541A5C72-B819-45F8-8C42-690DF253DD65}"/>
                  </a:ext>
                </a:extLst>
              </p:cNvPr>
              <p:cNvSpPr/>
              <p:nvPr/>
            </p:nvSpPr>
            <p:spPr>
              <a:xfrm>
                <a:off x="685799" y="546100"/>
                <a:ext cx="3256757" cy="828000"/>
              </a:xfrm>
              <a:custGeom>
                <a:avLst/>
                <a:gdLst/>
                <a:ahLst/>
                <a:cxnLst/>
                <a:rect l="l" t="t" r="r" b="b"/>
                <a:pathLst>
                  <a:path w="1955164" h="437514">
                    <a:moveTo>
                      <a:pt x="1736031" y="0"/>
                    </a:moveTo>
                    <a:lnTo>
                      <a:pt x="0" y="0"/>
                    </a:lnTo>
                    <a:lnTo>
                      <a:pt x="0" y="437153"/>
                    </a:lnTo>
                    <a:lnTo>
                      <a:pt x="1736031" y="437153"/>
                    </a:lnTo>
                    <a:lnTo>
                      <a:pt x="1786148" y="431380"/>
                    </a:lnTo>
                    <a:lnTo>
                      <a:pt x="1832155" y="414936"/>
                    </a:lnTo>
                    <a:lnTo>
                      <a:pt x="1872739" y="389134"/>
                    </a:lnTo>
                    <a:lnTo>
                      <a:pt x="1906588" y="355285"/>
                    </a:lnTo>
                    <a:lnTo>
                      <a:pt x="1932391" y="314701"/>
                    </a:lnTo>
                    <a:lnTo>
                      <a:pt x="1948834" y="268694"/>
                    </a:lnTo>
                    <a:lnTo>
                      <a:pt x="1954607" y="218577"/>
                    </a:lnTo>
                    <a:lnTo>
                      <a:pt x="1948834" y="168459"/>
                    </a:lnTo>
                    <a:lnTo>
                      <a:pt x="1932391" y="122452"/>
                    </a:lnTo>
                    <a:lnTo>
                      <a:pt x="1906588" y="81868"/>
                    </a:lnTo>
                    <a:lnTo>
                      <a:pt x="1872739" y="48018"/>
                    </a:lnTo>
                    <a:lnTo>
                      <a:pt x="1832155" y="22216"/>
                    </a:lnTo>
                    <a:lnTo>
                      <a:pt x="1786148" y="5772"/>
                    </a:lnTo>
                    <a:lnTo>
                      <a:pt x="1736031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0A39365D-A6B5-4623-AC67-FBE1BB6FC527}"/>
              </a:ext>
            </a:extLst>
          </p:cNvPr>
          <p:cNvSpPr txBox="1"/>
          <p:nvPr/>
        </p:nvSpPr>
        <p:spPr>
          <a:xfrm>
            <a:off x="685800" y="1212324"/>
            <a:ext cx="5257800" cy="375501"/>
          </a:xfrm>
          <a:prstGeom prst="rect">
            <a:avLst/>
          </a:prstGeom>
        </p:spPr>
        <p:txBody>
          <a:bodyPr vert="horz" wrap="square" lIns="0" tIns="6109" rIns="0" bIns="0" rtlCol="0">
            <a:spAutoFit/>
          </a:bodyPr>
          <a:lstStyle/>
          <a:p>
            <a:pPr marL="6109">
              <a:spcBef>
                <a:spcPts val="48"/>
              </a:spcBef>
            </a:pPr>
            <a:r>
              <a:rPr lang="en-US" sz="2400" b="1" dirty="0">
                <a:solidFill>
                  <a:schemeClr val="bg1"/>
                </a:solidFill>
              </a:rPr>
              <a:t>What is a Sensor?</a:t>
            </a:r>
            <a:endParaRPr lang="cs-CZ" sz="2300" b="1" dirty="0">
              <a:solidFill>
                <a:schemeClr val="bg1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7CC43-2836-F19B-7FBC-9BB06367D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pPr/>
              <a:t>2</a:t>
            </a:fld>
            <a:endParaRPr lang="cs-CZ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4888DB-EEDD-4C72-8CC1-75B51E0CA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4" y="1655315"/>
            <a:ext cx="9134456" cy="48310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697631-A51D-4982-875D-098FBDF26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659"/>
            <a:ext cx="1036101" cy="111624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8BAA2AF-4F6B-407A-813B-056A0DD7E7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440" y="6490260"/>
            <a:ext cx="1470959" cy="36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654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3178AB1-8CB4-45A3-9062-8FA23E8CC3F2}"/>
              </a:ext>
            </a:extLst>
          </p:cNvPr>
          <p:cNvGrpSpPr/>
          <p:nvPr/>
        </p:nvGrpSpPr>
        <p:grpSpPr>
          <a:xfrm>
            <a:off x="0" y="1119901"/>
            <a:ext cx="5943600" cy="535415"/>
            <a:chOff x="-1" y="546100"/>
            <a:chExt cx="4628357" cy="8280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90180E4-2DA3-4A53-9D76-F0FD54A89C99}"/>
                </a:ext>
              </a:extLst>
            </p:cNvPr>
            <p:cNvGrpSpPr/>
            <p:nvPr/>
          </p:nvGrpSpPr>
          <p:grpSpPr>
            <a:xfrm>
              <a:off x="-1" y="546100"/>
              <a:ext cx="3942557" cy="828000"/>
              <a:chOff x="-1" y="546100"/>
              <a:chExt cx="3942557" cy="828000"/>
            </a:xfrm>
          </p:grpSpPr>
          <p:sp>
            <p:nvSpPr>
              <p:cNvPr id="18" name="object 25">
                <a:extLst>
                  <a:ext uri="{FF2B5EF4-FFF2-40B4-BE49-F238E27FC236}">
                    <a16:creationId xmlns:a16="http://schemas.microsoft.com/office/drawing/2014/main" id="{7CA90AAE-D612-48FE-910B-C266F9F166E3}"/>
                  </a:ext>
                </a:extLst>
              </p:cNvPr>
              <p:cNvSpPr/>
              <p:nvPr/>
            </p:nvSpPr>
            <p:spPr>
              <a:xfrm>
                <a:off x="-1" y="546100"/>
                <a:ext cx="3256757" cy="828000"/>
              </a:xfrm>
              <a:custGeom>
                <a:avLst/>
                <a:gdLst/>
                <a:ahLst/>
                <a:cxnLst/>
                <a:rect l="l" t="t" r="r" b="b"/>
                <a:pathLst>
                  <a:path w="1955164" h="437514">
                    <a:moveTo>
                      <a:pt x="1736031" y="0"/>
                    </a:moveTo>
                    <a:lnTo>
                      <a:pt x="0" y="0"/>
                    </a:lnTo>
                    <a:lnTo>
                      <a:pt x="0" y="437153"/>
                    </a:lnTo>
                    <a:lnTo>
                      <a:pt x="1736031" y="437153"/>
                    </a:lnTo>
                    <a:lnTo>
                      <a:pt x="1786148" y="431380"/>
                    </a:lnTo>
                    <a:lnTo>
                      <a:pt x="1832155" y="414936"/>
                    </a:lnTo>
                    <a:lnTo>
                      <a:pt x="1872739" y="389134"/>
                    </a:lnTo>
                    <a:lnTo>
                      <a:pt x="1906588" y="355285"/>
                    </a:lnTo>
                    <a:lnTo>
                      <a:pt x="1932391" y="314701"/>
                    </a:lnTo>
                    <a:lnTo>
                      <a:pt x="1948834" y="268694"/>
                    </a:lnTo>
                    <a:lnTo>
                      <a:pt x="1954607" y="218577"/>
                    </a:lnTo>
                    <a:lnTo>
                      <a:pt x="1948834" y="168459"/>
                    </a:lnTo>
                    <a:lnTo>
                      <a:pt x="1932391" y="122452"/>
                    </a:lnTo>
                    <a:lnTo>
                      <a:pt x="1906588" y="81868"/>
                    </a:lnTo>
                    <a:lnTo>
                      <a:pt x="1872739" y="48018"/>
                    </a:lnTo>
                    <a:lnTo>
                      <a:pt x="1832155" y="22216"/>
                    </a:lnTo>
                    <a:lnTo>
                      <a:pt x="1786148" y="5772"/>
                    </a:lnTo>
                    <a:lnTo>
                      <a:pt x="1736031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9" name="object 25">
                <a:extLst>
                  <a:ext uri="{FF2B5EF4-FFF2-40B4-BE49-F238E27FC236}">
                    <a16:creationId xmlns:a16="http://schemas.microsoft.com/office/drawing/2014/main" id="{8B598FF6-A900-4144-B21C-815E1AE9780F}"/>
                  </a:ext>
                </a:extLst>
              </p:cNvPr>
              <p:cNvSpPr/>
              <p:nvPr/>
            </p:nvSpPr>
            <p:spPr>
              <a:xfrm>
                <a:off x="685799" y="546100"/>
                <a:ext cx="3256757" cy="828000"/>
              </a:xfrm>
              <a:custGeom>
                <a:avLst/>
                <a:gdLst/>
                <a:ahLst/>
                <a:cxnLst/>
                <a:rect l="l" t="t" r="r" b="b"/>
                <a:pathLst>
                  <a:path w="1955164" h="437514">
                    <a:moveTo>
                      <a:pt x="1736031" y="0"/>
                    </a:moveTo>
                    <a:lnTo>
                      <a:pt x="0" y="0"/>
                    </a:lnTo>
                    <a:lnTo>
                      <a:pt x="0" y="437153"/>
                    </a:lnTo>
                    <a:lnTo>
                      <a:pt x="1736031" y="437153"/>
                    </a:lnTo>
                    <a:lnTo>
                      <a:pt x="1786148" y="431380"/>
                    </a:lnTo>
                    <a:lnTo>
                      <a:pt x="1832155" y="414936"/>
                    </a:lnTo>
                    <a:lnTo>
                      <a:pt x="1872739" y="389134"/>
                    </a:lnTo>
                    <a:lnTo>
                      <a:pt x="1906588" y="355285"/>
                    </a:lnTo>
                    <a:lnTo>
                      <a:pt x="1932391" y="314701"/>
                    </a:lnTo>
                    <a:lnTo>
                      <a:pt x="1948834" y="268694"/>
                    </a:lnTo>
                    <a:lnTo>
                      <a:pt x="1954607" y="218577"/>
                    </a:lnTo>
                    <a:lnTo>
                      <a:pt x="1948834" y="168459"/>
                    </a:lnTo>
                    <a:lnTo>
                      <a:pt x="1932391" y="122452"/>
                    </a:lnTo>
                    <a:lnTo>
                      <a:pt x="1906588" y="81868"/>
                    </a:lnTo>
                    <a:lnTo>
                      <a:pt x="1872739" y="48018"/>
                    </a:lnTo>
                    <a:lnTo>
                      <a:pt x="1832155" y="22216"/>
                    </a:lnTo>
                    <a:lnTo>
                      <a:pt x="1786148" y="5772"/>
                    </a:lnTo>
                    <a:lnTo>
                      <a:pt x="1736031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3BF25CA-CBCA-4729-956F-F8FCA95A8359}"/>
                </a:ext>
              </a:extLst>
            </p:cNvPr>
            <p:cNvGrpSpPr/>
            <p:nvPr/>
          </p:nvGrpSpPr>
          <p:grpSpPr>
            <a:xfrm>
              <a:off x="685799" y="546100"/>
              <a:ext cx="3942557" cy="828000"/>
              <a:chOff x="-1" y="546100"/>
              <a:chExt cx="3942557" cy="828000"/>
            </a:xfrm>
          </p:grpSpPr>
          <p:sp>
            <p:nvSpPr>
              <p:cNvPr id="21" name="object 25">
                <a:extLst>
                  <a:ext uri="{FF2B5EF4-FFF2-40B4-BE49-F238E27FC236}">
                    <a16:creationId xmlns:a16="http://schemas.microsoft.com/office/drawing/2014/main" id="{748C4CD0-A3F7-4A02-9D64-72135F4B81DD}"/>
                  </a:ext>
                </a:extLst>
              </p:cNvPr>
              <p:cNvSpPr/>
              <p:nvPr/>
            </p:nvSpPr>
            <p:spPr>
              <a:xfrm>
                <a:off x="-1" y="546100"/>
                <a:ext cx="3256757" cy="828000"/>
              </a:xfrm>
              <a:custGeom>
                <a:avLst/>
                <a:gdLst/>
                <a:ahLst/>
                <a:cxnLst/>
                <a:rect l="l" t="t" r="r" b="b"/>
                <a:pathLst>
                  <a:path w="1955164" h="437514">
                    <a:moveTo>
                      <a:pt x="1736031" y="0"/>
                    </a:moveTo>
                    <a:lnTo>
                      <a:pt x="0" y="0"/>
                    </a:lnTo>
                    <a:lnTo>
                      <a:pt x="0" y="437153"/>
                    </a:lnTo>
                    <a:lnTo>
                      <a:pt x="1736031" y="437153"/>
                    </a:lnTo>
                    <a:lnTo>
                      <a:pt x="1786148" y="431380"/>
                    </a:lnTo>
                    <a:lnTo>
                      <a:pt x="1832155" y="414936"/>
                    </a:lnTo>
                    <a:lnTo>
                      <a:pt x="1872739" y="389134"/>
                    </a:lnTo>
                    <a:lnTo>
                      <a:pt x="1906588" y="355285"/>
                    </a:lnTo>
                    <a:lnTo>
                      <a:pt x="1932391" y="314701"/>
                    </a:lnTo>
                    <a:lnTo>
                      <a:pt x="1948834" y="268694"/>
                    </a:lnTo>
                    <a:lnTo>
                      <a:pt x="1954607" y="218577"/>
                    </a:lnTo>
                    <a:lnTo>
                      <a:pt x="1948834" y="168459"/>
                    </a:lnTo>
                    <a:lnTo>
                      <a:pt x="1932391" y="122452"/>
                    </a:lnTo>
                    <a:lnTo>
                      <a:pt x="1906588" y="81868"/>
                    </a:lnTo>
                    <a:lnTo>
                      <a:pt x="1872739" y="48018"/>
                    </a:lnTo>
                    <a:lnTo>
                      <a:pt x="1832155" y="22216"/>
                    </a:lnTo>
                    <a:lnTo>
                      <a:pt x="1786148" y="5772"/>
                    </a:lnTo>
                    <a:lnTo>
                      <a:pt x="1736031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2" name="object 25">
                <a:extLst>
                  <a:ext uri="{FF2B5EF4-FFF2-40B4-BE49-F238E27FC236}">
                    <a16:creationId xmlns:a16="http://schemas.microsoft.com/office/drawing/2014/main" id="{541A5C72-B819-45F8-8C42-690DF253DD65}"/>
                  </a:ext>
                </a:extLst>
              </p:cNvPr>
              <p:cNvSpPr/>
              <p:nvPr/>
            </p:nvSpPr>
            <p:spPr>
              <a:xfrm>
                <a:off x="685799" y="546100"/>
                <a:ext cx="3256757" cy="828000"/>
              </a:xfrm>
              <a:custGeom>
                <a:avLst/>
                <a:gdLst/>
                <a:ahLst/>
                <a:cxnLst/>
                <a:rect l="l" t="t" r="r" b="b"/>
                <a:pathLst>
                  <a:path w="1955164" h="437514">
                    <a:moveTo>
                      <a:pt x="1736031" y="0"/>
                    </a:moveTo>
                    <a:lnTo>
                      <a:pt x="0" y="0"/>
                    </a:lnTo>
                    <a:lnTo>
                      <a:pt x="0" y="437153"/>
                    </a:lnTo>
                    <a:lnTo>
                      <a:pt x="1736031" y="437153"/>
                    </a:lnTo>
                    <a:lnTo>
                      <a:pt x="1786148" y="431380"/>
                    </a:lnTo>
                    <a:lnTo>
                      <a:pt x="1832155" y="414936"/>
                    </a:lnTo>
                    <a:lnTo>
                      <a:pt x="1872739" y="389134"/>
                    </a:lnTo>
                    <a:lnTo>
                      <a:pt x="1906588" y="355285"/>
                    </a:lnTo>
                    <a:lnTo>
                      <a:pt x="1932391" y="314701"/>
                    </a:lnTo>
                    <a:lnTo>
                      <a:pt x="1948834" y="268694"/>
                    </a:lnTo>
                    <a:lnTo>
                      <a:pt x="1954607" y="218577"/>
                    </a:lnTo>
                    <a:lnTo>
                      <a:pt x="1948834" y="168459"/>
                    </a:lnTo>
                    <a:lnTo>
                      <a:pt x="1932391" y="122452"/>
                    </a:lnTo>
                    <a:lnTo>
                      <a:pt x="1906588" y="81868"/>
                    </a:lnTo>
                    <a:lnTo>
                      <a:pt x="1872739" y="48018"/>
                    </a:lnTo>
                    <a:lnTo>
                      <a:pt x="1832155" y="22216"/>
                    </a:lnTo>
                    <a:lnTo>
                      <a:pt x="1786148" y="5772"/>
                    </a:lnTo>
                    <a:lnTo>
                      <a:pt x="1736031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0A39365D-A6B5-4623-AC67-FBE1BB6FC527}"/>
              </a:ext>
            </a:extLst>
          </p:cNvPr>
          <p:cNvSpPr txBox="1"/>
          <p:nvPr/>
        </p:nvSpPr>
        <p:spPr>
          <a:xfrm>
            <a:off x="685800" y="1212324"/>
            <a:ext cx="5257800" cy="375501"/>
          </a:xfrm>
          <a:prstGeom prst="rect">
            <a:avLst/>
          </a:prstGeom>
        </p:spPr>
        <p:txBody>
          <a:bodyPr vert="horz" wrap="square" lIns="0" tIns="6109" rIns="0" bIns="0" rtlCol="0">
            <a:spAutoFit/>
          </a:bodyPr>
          <a:lstStyle/>
          <a:p>
            <a:pPr marL="6109">
              <a:spcBef>
                <a:spcPts val="48"/>
              </a:spcBef>
            </a:pPr>
            <a:r>
              <a:rPr lang="en-US" sz="2400" b="1" dirty="0">
                <a:solidFill>
                  <a:schemeClr val="bg1"/>
                </a:solidFill>
              </a:rPr>
              <a:t>What is a Sensor?</a:t>
            </a:r>
            <a:endParaRPr lang="cs-CZ" sz="2300" b="1" dirty="0">
              <a:solidFill>
                <a:schemeClr val="bg1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422B7E3-AB35-5A07-407B-5B2DBFA08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326" y="1889600"/>
            <a:ext cx="8671273" cy="43587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device that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physical or chemical changes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intensity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then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changes into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signals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(analog or digital) that can be interpreted by electronic systems.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Transducer</a:t>
            </a:r>
          </a:p>
          <a:p>
            <a:pPr marL="191413" indent="-274892">
              <a:buFont typeface="Wingdings" panose="05000000000000000000" pitchFamily="2" charset="2"/>
              <a:buChar char="q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7CC43-2836-F19B-7FBC-9BB06367D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pPr/>
              <a:t>3</a:t>
            </a:fld>
            <a:endParaRPr lang="cs-CZ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2CDE6C4-9A3F-43B6-9D12-81522D258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659"/>
            <a:ext cx="1036101" cy="11162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714C873-5C44-45C7-BD1D-EF9A5AAF22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440" y="6490260"/>
            <a:ext cx="1470959" cy="36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314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3178AB1-8CB4-45A3-9062-8FA23E8CC3F2}"/>
              </a:ext>
            </a:extLst>
          </p:cNvPr>
          <p:cNvGrpSpPr/>
          <p:nvPr/>
        </p:nvGrpSpPr>
        <p:grpSpPr>
          <a:xfrm>
            <a:off x="0" y="1119901"/>
            <a:ext cx="5943600" cy="535415"/>
            <a:chOff x="-1" y="546100"/>
            <a:chExt cx="4628357" cy="8280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90180E4-2DA3-4A53-9D76-F0FD54A89C99}"/>
                </a:ext>
              </a:extLst>
            </p:cNvPr>
            <p:cNvGrpSpPr/>
            <p:nvPr/>
          </p:nvGrpSpPr>
          <p:grpSpPr>
            <a:xfrm>
              <a:off x="-1" y="546100"/>
              <a:ext cx="3942557" cy="828000"/>
              <a:chOff x="-1" y="546100"/>
              <a:chExt cx="3942557" cy="828000"/>
            </a:xfrm>
          </p:grpSpPr>
          <p:sp>
            <p:nvSpPr>
              <p:cNvPr id="18" name="object 25">
                <a:extLst>
                  <a:ext uri="{FF2B5EF4-FFF2-40B4-BE49-F238E27FC236}">
                    <a16:creationId xmlns:a16="http://schemas.microsoft.com/office/drawing/2014/main" id="{7CA90AAE-D612-48FE-910B-C266F9F166E3}"/>
                  </a:ext>
                </a:extLst>
              </p:cNvPr>
              <p:cNvSpPr/>
              <p:nvPr/>
            </p:nvSpPr>
            <p:spPr>
              <a:xfrm>
                <a:off x="-1" y="546100"/>
                <a:ext cx="3256757" cy="828000"/>
              </a:xfrm>
              <a:custGeom>
                <a:avLst/>
                <a:gdLst/>
                <a:ahLst/>
                <a:cxnLst/>
                <a:rect l="l" t="t" r="r" b="b"/>
                <a:pathLst>
                  <a:path w="1955164" h="437514">
                    <a:moveTo>
                      <a:pt x="1736031" y="0"/>
                    </a:moveTo>
                    <a:lnTo>
                      <a:pt x="0" y="0"/>
                    </a:lnTo>
                    <a:lnTo>
                      <a:pt x="0" y="437153"/>
                    </a:lnTo>
                    <a:lnTo>
                      <a:pt x="1736031" y="437153"/>
                    </a:lnTo>
                    <a:lnTo>
                      <a:pt x="1786148" y="431380"/>
                    </a:lnTo>
                    <a:lnTo>
                      <a:pt x="1832155" y="414936"/>
                    </a:lnTo>
                    <a:lnTo>
                      <a:pt x="1872739" y="389134"/>
                    </a:lnTo>
                    <a:lnTo>
                      <a:pt x="1906588" y="355285"/>
                    </a:lnTo>
                    <a:lnTo>
                      <a:pt x="1932391" y="314701"/>
                    </a:lnTo>
                    <a:lnTo>
                      <a:pt x="1948834" y="268694"/>
                    </a:lnTo>
                    <a:lnTo>
                      <a:pt x="1954607" y="218577"/>
                    </a:lnTo>
                    <a:lnTo>
                      <a:pt x="1948834" y="168459"/>
                    </a:lnTo>
                    <a:lnTo>
                      <a:pt x="1932391" y="122452"/>
                    </a:lnTo>
                    <a:lnTo>
                      <a:pt x="1906588" y="81868"/>
                    </a:lnTo>
                    <a:lnTo>
                      <a:pt x="1872739" y="48018"/>
                    </a:lnTo>
                    <a:lnTo>
                      <a:pt x="1832155" y="22216"/>
                    </a:lnTo>
                    <a:lnTo>
                      <a:pt x="1786148" y="5772"/>
                    </a:lnTo>
                    <a:lnTo>
                      <a:pt x="1736031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9" name="object 25">
                <a:extLst>
                  <a:ext uri="{FF2B5EF4-FFF2-40B4-BE49-F238E27FC236}">
                    <a16:creationId xmlns:a16="http://schemas.microsoft.com/office/drawing/2014/main" id="{8B598FF6-A900-4144-B21C-815E1AE9780F}"/>
                  </a:ext>
                </a:extLst>
              </p:cNvPr>
              <p:cNvSpPr/>
              <p:nvPr/>
            </p:nvSpPr>
            <p:spPr>
              <a:xfrm>
                <a:off x="685799" y="546100"/>
                <a:ext cx="3256757" cy="828000"/>
              </a:xfrm>
              <a:custGeom>
                <a:avLst/>
                <a:gdLst/>
                <a:ahLst/>
                <a:cxnLst/>
                <a:rect l="l" t="t" r="r" b="b"/>
                <a:pathLst>
                  <a:path w="1955164" h="437514">
                    <a:moveTo>
                      <a:pt x="1736031" y="0"/>
                    </a:moveTo>
                    <a:lnTo>
                      <a:pt x="0" y="0"/>
                    </a:lnTo>
                    <a:lnTo>
                      <a:pt x="0" y="437153"/>
                    </a:lnTo>
                    <a:lnTo>
                      <a:pt x="1736031" y="437153"/>
                    </a:lnTo>
                    <a:lnTo>
                      <a:pt x="1786148" y="431380"/>
                    </a:lnTo>
                    <a:lnTo>
                      <a:pt x="1832155" y="414936"/>
                    </a:lnTo>
                    <a:lnTo>
                      <a:pt x="1872739" y="389134"/>
                    </a:lnTo>
                    <a:lnTo>
                      <a:pt x="1906588" y="355285"/>
                    </a:lnTo>
                    <a:lnTo>
                      <a:pt x="1932391" y="314701"/>
                    </a:lnTo>
                    <a:lnTo>
                      <a:pt x="1948834" y="268694"/>
                    </a:lnTo>
                    <a:lnTo>
                      <a:pt x="1954607" y="218577"/>
                    </a:lnTo>
                    <a:lnTo>
                      <a:pt x="1948834" y="168459"/>
                    </a:lnTo>
                    <a:lnTo>
                      <a:pt x="1932391" y="122452"/>
                    </a:lnTo>
                    <a:lnTo>
                      <a:pt x="1906588" y="81868"/>
                    </a:lnTo>
                    <a:lnTo>
                      <a:pt x="1872739" y="48018"/>
                    </a:lnTo>
                    <a:lnTo>
                      <a:pt x="1832155" y="22216"/>
                    </a:lnTo>
                    <a:lnTo>
                      <a:pt x="1786148" y="5772"/>
                    </a:lnTo>
                    <a:lnTo>
                      <a:pt x="1736031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3BF25CA-CBCA-4729-956F-F8FCA95A8359}"/>
                </a:ext>
              </a:extLst>
            </p:cNvPr>
            <p:cNvGrpSpPr/>
            <p:nvPr/>
          </p:nvGrpSpPr>
          <p:grpSpPr>
            <a:xfrm>
              <a:off x="685799" y="546100"/>
              <a:ext cx="3942557" cy="828000"/>
              <a:chOff x="-1" y="546100"/>
              <a:chExt cx="3942557" cy="828000"/>
            </a:xfrm>
          </p:grpSpPr>
          <p:sp>
            <p:nvSpPr>
              <p:cNvPr id="21" name="object 25">
                <a:extLst>
                  <a:ext uri="{FF2B5EF4-FFF2-40B4-BE49-F238E27FC236}">
                    <a16:creationId xmlns:a16="http://schemas.microsoft.com/office/drawing/2014/main" id="{748C4CD0-A3F7-4A02-9D64-72135F4B81DD}"/>
                  </a:ext>
                </a:extLst>
              </p:cNvPr>
              <p:cNvSpPr/>
              <p:nvPr/>
            </p:nvSpPr>
            <p:spPr>
              <a:xfrm>
                <a:off x="-1" y="546100"/>
                <a:ext cx="3256757" cy="828000"/>
              </a:xfrm>
              <a:custGeom>
                <a:avLst/>
                <a:gdLst/>
                <a:ahLst/>
                <a:cxnLst/>
                <a:rect l="l" t="t" r="r" b="b"/>
                <a:pathLst>
                  <a:path w="1955164" h="437514">
                    <a:moveTo>
                      <a:pt x="1736031" y="0"/>
                    </a:moveTo>
                    <a:lnTo>
                      <a:pt x="0" y="0"/>
                    </a:lnTo>
                    <a:lnTo>
                      <a:pt x="0" y="437153"/>
                    </a:lnTo>
                    <a:lnTo>
                      <a:pt x="1736031" y="437153"/>
                    </a:lnTo>
                    <a:lnTo>
                      <a:pt x="1786148" y="431380"/>
                    </a:lnTo>
                    <a:lnTo>
                      <a:pt x="1832155" y="414936"/>
                    </a:lnTo>
                    <a:lnTo>
                      <a:pt x="1872739" y="389134"/>
                    </a:lnTo>
                    <a:lnTo>
                      <a:pt x="1906588" y="355285"/>
                    </a:lnTo>
                    <a:lnTo>
                      <a:pt x="1932391" y="314701"/>
                    </a:lnTo>
                    <a:lnTo>
                      <a:pt x="1948834" y="268694"/>
                    </a:lnTo>
                    <a:lnTo>
                      <a:pt x="1954607" y="218577"/>
                    </a:lnTo>
                    <a:lnTo>
                      <a:pt x="1948834" y="168459"/>
                    </a:lnTo>
                    <a:lnTo>
                      <a:pt x="1932391" y="122452"/>
                    </a:lnTo>
                    <a:lnTo>
                      <a:pt x="1906588" y="81868"/>
                    </a:lnTo>
                    <a:lnTo>
                      <a:pt x="1872739" y="48018"/>
                    </a:lnTo>
                    <a:lnTo>
                      <a:pt x="1832155" y="22216"/>
                    </a:lnTo>
                    <a:lnTo>
                      <a:pt x="1786148" y="5772"/>
                    </a:lnTo>
                    <a:lnTo>
                      <a:pt x="1736031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2" name="object 25">
                <a:extLst>
                  <a:ext uri="{FF2B5EF4-FFF2-40B4-BE49-F238E27FC236}">
                    <a16:creationId xmlns:a16="http://schemas.microsoft.com/office/drawing/2014/main" id="{541A5C72-B819-45F8-8C42-690DF253DD65}"/>
                  </a:ext>
                </a:extLst>
              </p:cNvPr>
              <p:cNvSpPr/>
              <p:nvPr/>
            </p:nvSpPr>
            <p:spPr>
              <a:xfrm>
                <a:off x="685799" y="546100"/>
                <a:ext cx="3256757" cy="828000"/>
              </a:xfrm>
              <a:custGeom>
                <a:avLst/>
                <a:gdLst/>
                <a:ahLst/>
                <a:cxnLst/>
                <a:rect l="l" t="t" r="r" b="b"/>
                <a:pathLst>
                  <a:path w="1955164" h="437514">
                    <a:moveTo>
                      <a:pt x="1736031" y="0"/>
                    </a:moveTo>
                    <a:lnTo>
                      <a:pt x="0" y="0"/>
                    </a:lnTo>
                    <a:lnTo>
                      <a:pt x="0" y="437153"/>
                    </a:lnTo>
                    <a:lnTo>
                      <a:pt x="1736031" y="437153"/>
                    </a:lnTo>
                    <a:lnTo>
                      <a:pt x="1786148" y="431380"/>
                    </a:lnTo>
                    <a:lnTo>
                      <a:pt x="1832155" y="414936"/>
                    </a:lnTo>
                    <a:lnTo>
                      <a:pt x="1872739" y="389134"/>
                    </a:lnTo>
                    <a:lnTo>
                      <a:pt x="1906588" y="355285"/>
                    </a:lnTo>
                    <a:lnTo>
                      <a:pt x="1932391" y="314701"/>
                    </a:lnTo>
                    <a:lnTo>
                      <a:pt x="1948834" y="268694"/>
                    </a:lnTo>
                    <a:lnTo>
                      <a:pt x="1954607" y="218577"/>
                    </a:lnTo>
                    <a:lnTo>
                      <a:pt x="1948834" y="168459"/>
                    </a:lnTo>
                    <a:lnTo>
                      <a:pt x="1932391" y="122452"/>
                    </a:lnTo>
                    <a:lnTo>
                      <a:pt x="1906588" y="81868"/>
                    </a:lnTo>
                    <a:lnTo>
                      <a:pt x="1872739" y="48018"/>
                    </a:lnTo>
                    <a:lnTo>
                      <a:pt x="1832155" y="22216"/>
                    </a:lnTo>
                    <a:lnTo>
                      <a:pt x="1786148" y="5772"/>
                    </a:lnTo>
                    <a:lnTo>
                      <a:pt x="1736031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0A39365D-A6B5-4623-AC67-FBE1BB6FC527}"/>
              </a:ext>
            </a:extLst>
          </p:cNvPr>
          <p:cNvSpPr txBox="1"/>
          <p:nvPr/>
        </p:nvSpPr>
        <p:spPr>
          <a:xfrm>
            <a:off x="685800" y="1212324"/>
            <a:ext cx="5257800" cy="375501"/>
          </a:xfrm>
          <a:prstGeom prst="rect">
            <a:avLst/>
          </a:prstGeom>
        </p:spPr>
        <p:txBody>
          <a:bodyPr vert="horz" wrap="square" lIns="0" tIns="6109" rIns="0" bIns="0" rtlCol="0">
            <a:spAutoFit/>
          </a:bodyPr>
          <a:lstStyle/>
          <a:p>
            <a:pPr marL="6109">
              <a:spcBef>
                <a:spcPts val="48"/>
              </a:spcBef>
            </a:pPr>
            <a:r>
              <a:rPr lang="en-US" sz="2400" b="1" dirty="0">
                <a:solidFill>
                  <a:schemeClr val="bg1"/>
                </a:solidFill>
              </a:rPr>
              <a:t>Sensor Classification</a:t>
            </a:r>
            <a:endParaRPr lang="cs-CZ" sz="2400" b="1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7CC43-2836-F19B-7FBC-9BB06367D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pPr/>
              <a:t>4</a:t>
            </a:fld>
            <a:endParaRPr lang="cs-CZ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F38276-3C69-42EC-9AB2-F980BDCD5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90" y="1747739"/>
            <a:ext cx="7129084" cy="46487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F3F8D7-6D80-4BC3-8B8F-C409A0B7E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659"/>
            <a:ext cx="1036101" cy="11162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5B08451-F77C-41A5-A001-2EDC03C900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440" y="6490260"/>
            <a:ext cx="1470959" cy="36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616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3178AB1-8CB4-45A3-9062-8FA23E8CC3F2}"/>
              </a:ext>
            </a:extLst>
          </p:cNvPr>
          <p:cNvGrpSpPr/>
          <p:nvPr/>
        </p:nvGrpSpPr>
        <p:grpSpPr>
          <a:xfrm>
            <a:off x="0" y="1119901"/>
            <a:ext cx="5943600" cy="535415"/>
            <a:chOff x="-1" y="546100"/>
            <a:chExt cx="4628357" cy="8280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90180E4-2DA3-4A53-9D76-F0FD54A89C99}"/>
                </a:ext>
              </a:extLst>
            </p:cNvPr>
            <p:cNvGrpSpPr/>
            <p:nvPr/>
          </p:nvGrpSpPr>
          <p:grpSpPr>
            <a:xfrm>
              <a:off x="-1" y="546100"/>
              <a:ext cx="3942557" cy="828000"/>
              <a:chOff x="-1" y="546100"/>
              <a:chExt cx="3942557" cy="828000"/>
            </a:xfrm>
          </p:grpSpPr>
          <p:sp>
            <p:nvSpPr>
              <p:cNvPr id="18" name="object 25">
                <a:extLst>
                  <a:ext uri="{FF2B5EF4-FFF2-40B4-BE49-F238E27FC236}">
                    <a16:creationId xmlns:a16="http://schemas.microsoft.com/office/drawing/2014/main" id="{7CA90AAE-D612-48FE-910B-C266F9F166E3}"/>
                  </a:ext>
                </a:extLst>
              </p:cNvPr>
              <p:cNvSpPr/>
              <p:nvPr/>
            </p:nvSpPr>
            <p:spPr>
              <a:xfrm>
                <a:off x="-1" y="546100"/>
                <a:ext cx="3256757" cy="828000"/>
              </a:xfrm>
              <a:custGeom>
                <a:avLst/>
                <a:gdLst/>
                <a:ahLst/>
                <a:cxnLst/>
                <a:rect l="l" t="t" r="r" b="b"/>
                <a:pathLst>
                  <a:path w="1955164" h="437514">
                    <a:moveTo>
                      <a:pt x="1736031" y="0"/>
                    </a:moveTo>
                    <a:lnTo>
                      <a:pt x="0" y="0"/>
                    </a:lnTo>
                    <a:lnTo>
                      <a:pt x="0" y="437153"/>
                    </a:lnTo>
                    <a:lnTo>
                      <a:pt x="1736031" y="437153"/>
                    </a:lnTo>
                    <a:lnTo>
                      <a:pt x="1786148" y="431380"/>
                    </a:lnTo>
                    <a:lnTo>
                      <a:pt x="1832155" y="414936"/>
                    </a:lnTo>
                    <a:lnTo>
                      <a:pt x="1872739" y="389134"/>
                    </a:lnTo>
                    <a:lnTo>
                      <a:pt x="1906588" y="355285"/>
                    </a:lnTo>
                    <a:lnTo>
                      <a:pt x="1932391" y="314701"/>
                    </a:lnTo>
                    <a:lnTo>
                      <a:pt x="1948834" y="268694"/>
                    </a:lnTo>
                    <a:lnTo>
                      <a:pt x="1954607" y="218577"/>
                    </a:lnTo>
                    <a:lnTo>
                      <a:pt x="1948834" y="168459"/>
                    </a:lnTo>
                    <a:lnTo>
                      <a:pt x="1932391" y="122452"/>
                    </a:lnTo>
                    <a:lnTo>
                      <a:pt x="1906588" y="81868"/>
                    </a:lnTo>
                    <a:lnTo>
                      <a:pt x="1872739" y="48018"/>
                    </a:lnTo>
                    <a:lnTo>
                      <a:pt x="1832155" y="22216"/>
                    </a:lnTo>
                    <a:lnTo>
                      <a:pt x="1786148" y="5772"/>
                    </a:lnTo>
                    <a:lnTo>
                      <a:pt x="1736031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9" name="object 25">
                <a:extLst>
                  <a:ext uri="{FF2B5EF4-FFF2-40B4-BE49-F238E27FC236}">
                    <a16:creationId xmlns:a16="http://schemas.microsoft.com/office/drawing/2014/main" id="{8B598FF6-A900-4144-B21C-815E1AE9780F}"/>
                  </a:ext>
                </a:extLst>
              </p:cNvPr>
              <p:cNvSpPr/>
              <p:nvPr/>
            </p:nvSpPr>
            <p:spPr>
              <a:xfrm>
                <a:off x="685799" y="546100"/>
                <a:ext cx="3256757" cy="828000"/>
              </a:xfrm>
              <a:custGeom>
                <a:avLst/>
                <a:gdLst/>
                <a:ahLst/>
                <a:cxnLst/>
                <a:rect l="l" t="t" r="r" b="b"/>
                <a:pathLst>
                  <a:path w="1955164" h="437514">
                    <a:moveTo>
                      <a:pt x="1736031" y="0"/>
                    </a:moveTo>
                    <a:lnTo>
                      <a:pt x="0" y="0"/>
                    </a:lnTo>
                    <a:lnTo>
                      <a:pt x="0" y="437153"/>
                    </a:lnTo>
                    <a:lnTo>
                      <a:pt x="1736031" y="437153"/>
                    </a:lnTo>
                    <a:lnTo>
                      <a:pt x="1786148" y="431380"/>
                    </a:lnTo>
                    <a:lnTo>
                      <a:pt x="1832155" y="414936"/>
                    </a:lnTo>
                    <a:lnTo>
                      <a:pt x="1872739" y="389134"/>
                    </a:lnTo>
                    <a:lnTo>
                      <a:pt x="1906588" y="355285"/>
                    </a:lnTo>
                    <a:lnTo>
                      <a:pt x="1932391" y="314701"/>
                    </a:lnTo>
                    <a:lnTo>
                      <a:pt x="1948834" y="268694"/>
                    </a:lnTo>
                    <a:lnTo>
                      <a:pt x="1954607" y="218577"/>
                    </a:lnTo>
                    <a:lnTo>
                      <a:pt x="1948834" y="168459"/>
                    </a:lnTo>
                    <a:lnTo>
                      <a:pt x="1932391" y="122452"/>
                    </a:lnTo>
                    <a:lnTo>
                      <a:pt x="1906588" y="81868"/>
                    </a:lnTo>
                    <a:lnTo>
                      <a:pt x="1872739" y="48018"/>
                    </a:lnTo>
                    <a:lnTo>
                      <a:pt x="1832155" y="22216"/>
                    </a:lnTo>
                    <a:lnTo>
                      <a:pt x="1786148" y="5772"/>
                    </a:lnTo>
                    <a:lnTo>
                      <a:pt x="1736031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3BF25CA-CBCA-4729-956F-F8FCA95A8359}"/>
                </a:ext>
              </a:extLst>
            </p:cNvPr>
            <p:cNvGrpSpPr/>
            <p:nvPr/>
          </p:nvGrpSpPr>
          <p:grpSpPr>
            <a:xfrm>
              <a:off x="685799" y="546100"/>
              <a:ext cx="3942557" cy="828000"/>
              <a:chOff x="-1" y="546100"/>
              <a:chExt cx="3942557" cy="828000"/>
            </a:xfrm>
          </p:grpSpPr>
          <p:sp>
            <p:nvSpPr>
              <p:cNvPr id="21" name="object 25">
                <a:extLst>
                  <a:ext uri="{FF2B5EF4-FFF2-40B4-BE49-F238E27FC236}">
                    <a16:creationId xmlns:a16="http://schemas.microsoft.com/office/drawing/2014/main" id="{748C4CD0-A3F7-4A02-9D64-72135F4B81DD}"/>
                  </a:ext>
                </a:extLst>
              </p:cNvPr>
              <p:cNvSpPr/>
              <p:nvPr/>
            </p:nvSpPr>
            <p:spPr>
              <a:xfrm>
                <a:off x="-1" y="546100"/>
                <a:ext cx="3256757" cy="828000"/>
              </a:xfrm>
              <a:custGeom>
                <a:avLst/>
                <a:gdLst/>
                <a:ahLst/>
                <a:cxnLst/>
                <a:rect l="l" t="t" r="r" b="b"/>
                <a:pathLst>
                  <a:path w="1955164" h="437514">
                    <a:moveTo>
                      <a:pt x="1736031" y="0"/>
                    </a:moveTo>
                    <a:lnTo>
                      <a:pt x="0" y="0"/>
                    </a:lnTo>
                    <a:lnTo>
                      <a:pt x="0" y="437153"/>
                    </a:lnTo>
                    <a:lnTo>
                      <a:pt x="1736031" y="437153"/>
                    </a:lnTo>
                    <a:lnTo>
                      <a:pt x="1786148" y="431380"/>
                    </a:lnTo>
                    <a:lnTo>
                      <a:pt x="1832155" y="414936"/>
                    </a:lnTo>
                    <a:lnTo>
                      <a:pt x="1872739" y="389134"/>
                    </a:lnTo>
                    <a:lnTo>
                      <a:pt x="1906588" y="355285"/>
                    </a:lnTo>
                    <a:lnTo>
                      <a:pt x="1932391" y="314701"/>
                    </a:lnTo>
                    <a:lnTo>
                      <a:pt x="1948834" y="268694"/>
                    </a:lnTo>
                    <a:lnTo>
                      <a:pt x="1954607" y="218577"/>
                    </a:lnTo>
                    <a:lnTo>
                      <a:pt x="1948834" y="168459"/>
                    </a:lnTo>
                    <a:lnTo>
                      <a:pt x="1932391" y="122452"/>
                    </a:lnTo>
                    <a:lnTo>
                      <a:pt x="1906588" y="81868"/>
                    </a:lnTo>
                    <a:lnTo>
                      <a:pt x="1872739" y="48018"/>
                    </a:lnTo>
                    <a:lnTo>
                      <a:pt x="1832155" y="22216"/>
                    </a:lnTo>
                    <a:lnTo>
                      <a:pt x="1786148" y="5772"/>
                    </a:lnTo>
                    <a:lnTo>
                      <a:pt x="1736031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2" name="object 25">
                <a:extLst>
                  <a:ext uri="{FF2B5EF4-FFF2-40B4-BE49-F238E27FC236}">
                    <a16:creationId xmlns:a16="http://schemas.microsoft.com/office/drawing/2014/main" id="{541A5C72-B819-45F8-8C42-690DF253DD65}"/>
                  </a:ext>
                </a:extLst>
              </p:cNvPr>
              <p:cNvSpPr/>
              <p:nvPr/>
            </p:nvSpPr>
            <p:spPr>
              <a:xfrm>
                <a:off x="685799" y="546100"/>
                <a:ext cx="3256757" cy="828000"/>
              </a:xfrm>
              <a:custGeom>
                <a:avLst/>
                <a:gdLst/>
                <a:ahLst/>
                <a:cxnLst/>
                <a:rect l="l" t="t" r="r" b="b"/>
                <a:pathLst>
                  <a:path w="1955164" h="437514">
                    <a:moveTo>
                      <a:pt x="1736031" y="0"/>
                    </a:moveTo>
                    <a:lnTo>
                      <a:pt x="0" y="0"/>
                    </a:lnTo>
                    <a:lnTo>
                      <a:pt x="0" y="437153"/>
                    </a:lnTo>
                    <a:lnTo>
                      <a:pt x="1736031" y="437153"/>
                    </a:lnTo>
                    <a:lnTo>
                      <a:pt x="1786148" y="431380"/>
                    </a:lnTo>
                    <a:lnTo>
                      <a:pt x="1832155" y="414936"/>
                    </a:lnTo>
                    <a:lnTo>
                      <a:pt x="1872739" y="389134"/>
                    </a:lnTo>
                    <a:lnTo>
                      <a:pt x="1906588" y="355285"/>
                    </a:lnTo>
                    <a:lnTo>
                      <a:pt x="1932391" y="314701"/>
                    </a:lnTo>
                    <a:lnTo>
                      <a:pt x="1948834" y="268694"/>
                    </a:lnTo>
                    <a:lnTo>
                      <a:pt x="1954607" y="218577"/>
                    </a:lnTo>
                    <a:lnTo>
                      <a:pt x="1948834" y="168459"/>
                    </a:lnTo>
                    <a:lnTo>
                      <a:pt x="1932391" y="122452"/>
                    </a:lnTo>
                    <a:lnTo>
                      <a:pt x="1906588" y="81868"/>
                    </a:lnTo>
                    <a:lnTo>
                      <a:pt x="1872739" y="48018"/>
                    </a:lnTo>
                    <a:lnTo>
                      <a:pt x="1832155" y="22216"/>
                    </a:lnTo>
                    <a:lnTo>
                      <a:pt x="1786148" y="5772"/>
                    </a:lnTo>
                    <a:lnTo>
                      <a:pt x="1736031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0A39365D-A6B5-4623-AC67-FBE1BB6FC527}"/>
              </a:ext>
            </a:extLst>
          </p:cNvPr>
          <p:cNvSpPr txBox="1"/>
          <p:nvPr/>
        </p:nvSpPr>
        <p:spPr>
          <a:xfrm>
            <a:off x="685800" y="1212324"/>
            <a:ext cx="5257800" cy="375501"/>
          </a:xfrm>
          <a:prstGeom prst="rect">
            <a:avLst/>
          </a:prstGeom>
        </p:spPr>
        <p:txBody>
          <a:bodyPr vert="horz" wrap="square" lIns="0" tIns="6109" rIns="0" bIns="0" rtlCol="0">
            <a:spAutoFit/>
          </a:bodyPr>
          <a:lstStyle/>
          <a:p>
            <a:pPr marL="6109">
              <a:spcBef>
                <a:spcPts val="48"/>
              </a:spcBef>
            </a:pPr>
            <a:r>
              <a:rPr lang="en-US" sz="2400" b="1" dirty="0">
                <a:solidFill>
                  <a:schemeClr val="bg1"/>
                </a:solidFill>
              </a:rPr>
              <a:t>Sensor Classification</a:t>
            </a:r>
            <a:endParaRPr lang="cs-CZ" sz="2400" b="1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7CC43-2836-F19B-7FBC-9BB06367D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pPr/>
              <a:t>5</a:t>
            </a:fld>
            <a:endParaRPr lang="cs-CZ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CC5790-1E8D-4D2B-9659-4418100F5CA9}"/>
              </a:ext>
            </a:extLst>
          </p:cNvPr>
          <p:cNvSpPr txBox="1"/>
          <p:nvPr/>
        </p:nvSpPr>
        <p:spPr>
          <a:xfrm>
            <a:off x="268943" y="1711113"/>
            <a:ext cx="888402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By Operating Principle: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Contact Sensors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Non-contact Sensors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By Measured Quantity: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Temperature Sensors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Pressure Sensors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Position/Displacement Sensors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Optical Sensors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Chemical Sensors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By Output Signal: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Analog Sensors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Digital Sensors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B32AD2F-8226-45BC-8F13-AFB9CA931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659"/>
            <a:ext cx="1036101" cy="11162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DE5A086-4059-4887-AAC5-C6A15F0CE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440" y="6490260"/>
            <a:ext cx="1470959" cy="36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399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3178AB1-8CB4-45A3-9062-8FA23E8CC3F2}"/>
              </a:ext>
            </a:extLst>
          </p:cNvPr>
          <p:cNvGrpSpPr/>
          <p:nvPr/>
        </p:nvGrpSpPr>
        <p:grpSpPr>
          <a:xfrm>
            <a:off x="-1" y="1119901"/>
            <a:ext cx="5959193" cy="535415"/>
            <a:chOff x="-1" y="546100"/>
            <a:chExt cx="4628357" cy="8280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90180E4-2DA3-4A53-9D76-F0FD54A89C99}"/>
                </a:ext>
              </a:extLst>
            </p:cNvPr>
            <p:cNvGrpSpPr/>
            <p:nvPr/>
          </p:nvGrpSpPr>
          <p:grpSpPr>
            <a:xfrm>
              <a:off x="-1" y="546100"/>
              <a:ext cx="3942557" cy="828000"/>
              <a:chOff x="-1" y="546100"/>
              <a:chExt cx="3942557" cy="828000"/>
            </a:xfrm>
          </p:grpSpPr>
          <p:sp>
            <p:nvSpPr>
              <p:cNvPr id="18" name="object 25">
                <a:extLst>
                  <a:ext uri="{FF2B5EF4-FFF2-40B4-BE49-F238E27FC236}">
                    <a16:creationId xmlns:a16="http://schemas.microsoft.com/office/drawing/2014/main" id="{7CA90AAE-D612-48FE-910B-C266F9F166E3}"/>
                  </a:ext>
                </a:extLst>
              </p:cNvPr>
              <p:cNvSpPr/>
              <p:nvPr/>
            </p:nvSpPr>
            <p:spPr>
              <a:xfrm>
                <a:off x="-1" y="546100"/>
                <a:ext cx="3256757" cy="828000"/>
              </a:xfrm>
              <a:custGeom>
                <a:avLst/>
                <a:gdLst/>
                <a:ahLst/>
                <a:cxnLst/>
                <a:rect l="l" t="t" r="r" b="b"/>
                <a:pathLst>
                  <a:path w="1955164" h="437514">
                    <a:moveTo>
                      <a:pt x="1736031" y="0"/>
                    </a:moveTo>
                    <a:lnTo>
                      <a:pt x="0" y="0"/>
                    </a:lnTo>
                    <a:lnTo>
                      <a:pt x="0" y="437153"/>
                    </a:lnTo>
                    <a:lnTo>
                      <a:pt x="1736031" y="437153"/>
                    </a:lnTo>
                    <a:lnTo>
                      <a:pt x="1786148" y="431380"/>
                    </a:lnTo>
                    <a:lnTo>
                      <a:pt x="1832155" y="414936"/>
                    </a:lnTo>
                    <a:lnTo>
                      <a:pt x="1872739" y="389134"/>
                    </a:lnTo>
                    <a:lnTo>
                      <a:pt x="1906588" y="355285"/>
                    </a:lnTo>
                    <a:lnTo>
                      <a:pt x="1932391" y="314701"/>
                    </a:lnTo>
                    <a:lnTo>
                      <a:pt x="1948834" y="268694"/>
                    </a:lnTo>
                    <a:lnTo>
                      <a:pt x="1954607" y="218577"/>
                    </a:lnTo>
                    <a:lnTo>
                      <a:pt x="1948834" y="168459"/>
                    </a:lnTo>
                    <a:lnTo>
                      <a:pt x="1932391" y="122452"/>
                    </a:lnTo>
                    <a:lnTo>
                      <a:pt x="1906588" y="81868"/>
                    </a:lnTo>
                    <a:lnTo>
                      <a:pt x="1872739" y="48018"/>
                    </a:lnTo>
                    <a:lnTo>
                      <a:pt x="1832155" y="22216"/>
                    </a:lnTo>
                    <a:lnTo>
                      <a:pt x="1786148" y="5772"/>
                    </a:lnTo>
                    <a:lnTo>
                      <a:pt x="1736031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9" name="object 25">
                <a:extLst>
                  <a:ext uri="{FF2B5EF4-FFF2-40B4-BE49-F238E27FC236}">
                    <a16:creationId xmlns:a16="http://schemas.microsoft.com/office/drawing/2014/main" id="{8B598FF6-A900-4144-B21C-815E1AE9780F}"/>
                  </a:ext>
                </a:extLst>
              </p:cNvPr>
              <p:cNvSpPr/>
              <p:nvPr/>
            </p:nvSpPr>
            <p:spPr>
              <a:xfrm>
                <a:off x="685799" y="546100"/>
                <a:ext cx="3256757" cy="828000"/>
              </a:xfrm>
              <a:custGeom>
                <a:avLst/>
                <a:gdLst/>
                <a:ahLst/>
                <a:cxnLst/>
                <a:rect l="l" t="t" r="r" b="b"/>
                <a:pathLst>
                  <a:path w="1955164" h="437514">
                    <a:moveTo>
                      <a:pt x="1736031" y="0"/>
                    </a:moveTo>
                    <a:lnTo>
                      <a:pt x="0" y="0"/>
                    </a:lnTo>
                    <a:lnTo>
                      <a:pt x="0" y="437153"/>
                    </a:lnTo>
                    <a:lnTo>
                      <a:pt x="1736031" y="437153"/>
                    </a:lnTo>
                    <a:lnTo>
                      <a:pt x="1786148" y="431380"/>
                    </a:lnTo>
                    <a:lnTo>
                      <a:pt x="1832155" y="414936"/>
                    </a:lnTo>
                    <a:lnTo>
                      <a:pt x="1872739" y="389134"/>
                    </a:lnTo>
                    <a:lnTo>
                      <a:pt x="1906588" y="355285"/>
                    </a:lnTo>
                    <a:lnTo>
                      <a:pt x="1932391" y="314701"/>
                    </a:lnTo>
                    <a:lnTo>
                      <a:pt x="1948834" y="268694"/>
                    </a:lnTo>
                    <a:lnTo>
                      <a:pt x="1954607" y="218577"/>
                    </a:lnTo>
                    <a:lnTo>
                      <a:pt x="1948834" y="168459"/>
                    </a:lnTo>
                    <a:lnTo>
                      <a:pt x="1932391" y="122452"/>
                    </a:lnTo>
                    <a:lnTo>
                      <a:pt x="1906588" y="81868"/>
                    </a:lnTo>
                    <a:lnTo>
                      <a:pt x="1872739" y="48018"/>
                    </a:lnTo>
                    <a:lnTo>
                      <a:pt x="1832155" y="22216"/>
                    </a:lnTo>
                    <a:lnTo>
                      <a:pt x="1786148" y="5772"/>
                    </a:lnTo>
                    <a:lnTo>
                      <a:pt x="1736031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3BF25CA-CBCA-4729-956F-F8FCA95A8359}"/>
                </a:ext>
              </a:extLst>
            </p:cNvPr>
            <p:cNvGrpSpPr/>
            <p:nvPr/>
          </p:nvGrpSpPr>
          <p:grpSpPr>
            <a:xfrm>
              <a:off x="685799" y="546100"/>
              <a:ext cx="3942557" cy="828000"/>
              <a:chOff x="-1" y="546100"/>
              <a:chExt cx="3942557" cy="828000"/>
            </a:xfrm>
          </p:grpSpPr>
          <p:sp>
            <p:nvSpPr>
              <p:cNvPr id="21" name="object 25">
                <a:extLst>
                  <a:ext uri="{FF2B5EF4-FFF2-40B4-BE49-F238E27FC236}">
                    <a16:creationId xmlns:a16="http://schemas.microsoft.com/office/drawing/2014/main" id="{748C4CD0-A3F7-4A02-9D64-72135F4B81DD}"/>
                  </a:ext>
                </a:extLst>
              </p:cNvPr>
              <p:cNvSpPr/>
              <p:nvPr/>
            </p:nvSpPr>
            <p:spPr>
              <a:xfrm>
                <a:off x="-1" y="546100"/>
                <a:ext cx="3256757" cy="828000"/>
              </a:xfrm>
              <a:custGeom>
                <a:avLst/>
                <a:gdLst/>
                <a:ahLst/>
                <a:cxnLst/>
                <a:rect l="l" t="t" r="r" b="b"/>
                <a:pathLst>
                  <a:path w="1955164" h="437514">
                    <a:moveTo>
                      <a:pt x="1736031" y="0"/>
                    </a:moveTo>
                    <a:lnTo>
                      <a:pt x="0" y="0"/>
                    </a:lnTo>
                    <a:lnTo>
                      <a:pt x="0" y="437153"/>
                    </a:lnTo>
                    <a:lnTo>
                      <a:pt x="1736031" y="437153"/>
                    </a:lnTo>
                    <a:lnTo>
                      <a:pt x="1786148" y="431380"/>
                    </a:lnTo>
                    <a:lnTo>
                      <a:pt x="1832155" y="414936"/>
                    </a:lnTo>
                    <a:lnTo>
                      <a:pt x="1872739" y="389134"/>
                    </a:lnTo>
                    <a:lnTo>
                      <a:pt x="1906588" y="355285"/>
                    </a:lnTo>
                    <a:lnTo>
                      <a:pt x="1932391" y="314701"/>
                    </a:lnTo>
                    <a:lnTo>
                      <a:pt x="1948834" y="268694"/>
                    </a:lnTo>
                    <a:lnTo>
                      <a:pt x="1954607" y="218577"/>
                    </a:lnTo>
                    <a:lnTo>
                      <a:pt x="1948834" y="168459"/>
                    </a:lnTo>
                    <a:lnTo>
                      <a:pt x="1932391" y="122452"/>
                    </a:lnTo>
                    <a:lnTo>
                      <a:pt x="1906588" y="81868"/>
                    </a:lnTo>
                    <a:lnTo>
                      <a:pt x="1872739" y="48018"/>
                    </a:lnTo>
                    <a:lnTo>
                      <a:pt x="1832155" y="22216"/>
                    </a:lnTo>
                    <a:lnTo>
                      <a:pt x="1786148" y="5772"/>
                    </a:lnTo>
                    <a:lnTo>
                      <a:pt x="1736031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2" name="object 25">
                <a:extLst>
                  <a:ext uri="{FF2B5EF4-FFF2-40B4-BE49-F238E27FC236}">
                    <a16:creationId xmlns:a16="http://schemas.microsoft.com/office/drawing/2014/main" id="{541A5C72-B819-45F8-8C42-690DF253DD65}"/>
                  </a:ext>
                </a:extLst>
              </p:cNvPr>
              <p:cNvSpPr/>
              <p:nvPr/>
            </p:nvSpPr>
            <p:spPr>
              <a:xfrm>
                <a:off x="685799" y="546100"/>
                <a:ext cx="3256757" cy="828000"/>
              </a:xfrm>
              <a:custGeom>
                <a:avLst/>
                <a:gdLst/>
                <a:ahLst/>
                <a:cxnLst/>
                <a:rect l="l" t="t" r="r" b="b"/>
                <a:pathLst>
                  <a:path w="1955164" h="437514">
                    <a:moveTo>
                      <a:pt x="1736031" y="0"/>
                    </a:moveTo>
                    <a:lnTo>
                      <a:pt x="0" y="0"/>
                    </a:lnTo>
                    <a:lnTo>
                      <a:pt x="0" y="437153"/>
                    </a:lnTo>
                    <a:lnTo>
                      <a:pt x="1736031" y="437153"/>
                    </a:lnTo>
                    <a:lnTo>
                      <a:pt x="1786148" y="431380"/>
                    </a:lnTo>
                    <a:lnTo>
                      <a:pt x="1832155" y="414936"/>
                    </a:lnTo>
                    <a:lnTo>
                      <a:pt x="1872739" y="389134"/>
                    </a:lnTo>
                    <a:lnTo>
                      <a:pt x="1906588" y="355285"/>
                    </a:lnTo>
                    <a:lnTo>
                      <a:pt x="1932391" y="314701"/>
                    </a:lnTo>
                    <a:lnTo>
                      <a:pt x="1948834" y="268694"/>
                    </a:lnTo>
                    <a:lnTo>
                      <a:pt x="1954607" y="218577"/>
                    </a:lnTo>
                    <a:lnTo>
                      <a:pt x="1948834" y="168459"/>
                    </a:lnTo>
                    <a:lnTo>
                      <a:pt x="1932391" y="122452"/>
                    </a:lnTo>
                    <a:lnTo>
                      <a:pt x="1906588" y="81868"/>
                    </a:lnTo>
                    <a:lnTo>
                      <a:pt x="1872739" y="48018"/>
                    </a:lnTo>
                    <a:lnTo>
                      <a:pt x="1832155" y="22216"/>
                    </a:lnTo>
                    <a:lnTo>
                      <a:pt x="1786148" y="5772"/>
                    </a:lnTo>
                    <a:lnTo>
                      <a:pt x="1736031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0A39365D-A6B5-4623-AC67-FBE1BB6FC527}"/>
              </a:ext>
            </a:extLst>
          </p:cNvPr>
          <p:cNvSpPr txBox="1"/>
          <p:nvPr/>
        </p:nvSpPr>
        <p:spPr>
          <a:xfrm>
            <a:off x="320326" y="1212324"/>
            <a:ext cx="4068412" cy="360112"/>
          </a:xfrm>
          <a:prstGeom prst="rect">
            <a:avLst/>
          </a:prstGeom>
        </p:spPr>
        <p:txBody>
          <a:bodyPr vert="horz" wrap="square" lIns="0" tIns="6109" rIns="0" bIns="0" rtlCol="0">
            <a:spAutoFit/>
          </a:bodyPr>
          <a:lstStyle/>
          <a:p>
            <a:pPr marL="6109">
              <a:spcBef>
                <a:spcPts val="48"/>
              </a:spcBef>
            </a:pPr>
            <a:r>
              <a:rPr lang="en-US" sz="2300" spc="-2" dirty="0">
                <a:solidFill>
                  <a:srgbClr val="FFFFFF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Signal Conditioners</a:t>
            </a:r>
            <a:endParaRPr lang="cs-CZ" sz="23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422B7E3-AB35-5A07-407B-5B2DBFA08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326" y="1889601"/>
            <a:ext cx="8686609" cy="3848498"/>
          </a:xfrm>
        </p:spPr>
        <p:txBody>
          <a:bodyPr>
            <a:normAutofit/>
          </a:bodyPr>
          <a:lstStyle/>
          <a:p>
            <a:pPr marL="191413" indent="-274892">
              <a:buFont typeface="Wingdings" panose="05000000000000000000" pitchFamily="2" charset="2"/>
              <a:buChar char="q"/>
            </a:pPr>
            <a:r>
              <a:rPr lang="en-US" sz="1635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Operational Amplifiers (Op-Amp)</a:t>
            </a:r>
          </a:p>
          <a:p>
            <a:pPr marL="534301" lvl="1" indent="-274892">
              <a:buFont typeface="Wingdings" panose="05000000000000000000" pitchFamily="2" charset="2"/>
              <a:buChar char="§"/>
            </a:pPr>
            <a:r>
              <a:rPr lang="en-US" sz="1443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OP-AMPs are also used as cells in custom-made integrated circuits—analog or mixed technology </a:t>
            </a:r>
          </a:p>
          <a:p>
            <a:pPr marL="534301" lvl="1" indent="-274892">
              <a:buFont typeface="Wingdings" panose="05000000000000000000" pitchFamily="2" charset="2"/>
              <a:buChar char="§"/>
            </a:pPr>
            <a:r>
              <a:rPr lang="en-US" sz="1443" b="1" i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Fig. 6.5a </a:t>
            </a:r>
            <a:r>
              <a:rPr lang="en-US" sz="1443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shows a good operational amplifier has the following properties (symbol representation of Op-Amp)</a:t>
            </a:r>
          </a:p>
          <a:p>
            <a:pPr marL="534301" lvl="1" indent="-274892">
              <a:buFont typeface="Wingdings" panose="05000000000000000000" pitchFamily="2" charset="2"/>
              <a:buChar char="§"/>
            </a:pPr>
            <a:endParaRPr lang="en-US" sz="1443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534301" lvl="1" indent="-274892">
              <a:buFont typeface="Wingdings" panose="05000000000000000000" pitchFamily="2" charset="2"/>
              <a:buChar char="§"/>
            </a:pPr>
            <a:endParaRPr lang="en-US" sz="1443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191413" indent="-274892">
              <a:buFont typeface="Wingdings" panose="05000000000000000000" pitchFamily="2" charset="2"/>
              <a:buChar char="q"/>
            </a:pPr>
            <a:endParaRPr lang="en-US" sz="1732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7CC43-2836-F19B-7FBC-9BB06367D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pPr/>
              <a:t>6</a:t>
            </a:fld>
            <a:endParaRPr lang="cs-CZ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AD67CA-D704-97E2-EA40-F7FCB5203F9D}"/>
              </a:ext>
            </a:extLst>
          </p:cNvPr>
          <p:cNvGrpSpPr/>
          <p:nvPr/>
        </p:nvGrpSpPr>
        <p:grpSpPr>
          <a:xfrm>
            <a:off x="320520" y="3524551"/>
            <a:ext cx="5285858" cy="2145140"/>
            <a:chOff x="1408412" y="5854180"/>
            <a:chExt cx="10989262" cy="44597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2EDE75B-E3BF-DF96-CF4B-18217A2D28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94317" y="5854180"/>
              <a:ext cx="10703357" cy="4459732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F025B90-B4F4-96D8-9138-E534DA802AC5}"/>
                </a:ext>
              </a:extLst>
            </p:cNvPr>
            <p:cNvSpPr/>
            <p:nvPr/>
          </p:nvSpPr>
          <p:spPr>
            <a:xfrm>
              <a:off x="1408412" y="5854180"/>
              <a:ext cx="4896344" cy="34549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32EF0FA4-05E1-C0E3-BCCD-E1633F32D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9193" y="2894523"/>
            <a:ext cx="1457000" cy="862544"/>
          </a:xfrm>
          <a:prstGeom prst="rect">
            <a:avLst/>
          </a:prstGeom>
        </p:spPr>
      </p:pic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57795580-047C-87B2-3F7E-4FDA18FBC365}"/>
              </a:ext>
            </a:extLst>
          </p:cNvPr>
          <p:cNvSpPr txBox="1">
            <a:spLocks/>
          </p:cNvSpPr>
          <p:nvPr/>
        </p:nvSpPr>
        <p:spPr>
          <a:xfrm>
            <a:off x="5730821" y="3757067"/>
            <a:ext cx="3092659" cy="2141313"/>
          </a:xfrm>
          <a:prstGeom prst="rect">
            <a:avLst/>
          </a:prstGeom>
        </p:spPr>
        <p:txBody>
          <a:bodyPr vert="horz" lIns="43983" tIns="21991" rIns="43983" bIns="21991" rtlCol="0">
            <a:normAutofit/>
          </a:bodyPr>
          <a:lstStyle>
            <a:lvl1pPr marL="356433" indent="-356433" algn="l" defTabSz="1425732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43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69299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82166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95032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07898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20764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33631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46497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59363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4301" lvl="1" indent="-274892">
              <a:buFont typeface="Wingdings" panose="05000000000000000000" pitchFamily="2" charset="2"/>
              <a:buChar char="§"/>
            </a:pPr>
            <a:r>
              <a:rPr lang="en-US" sz="1443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For moderate accuracy, the open-loop gain of an Op-Amp should be at least 100 times greater than closed-loop </a:t>
            </a:r>
          </a:p>
          <a:p>
            <a:pPr marL="534301" lvl="1" indent="-274892">
              <a:buFont typeface="Wingdings" panose="05000000000000000000" pitchFamily="2" charset="2"/>
              <a:buChar char="§"/>
            </a:pPr>
            <a:r>
              <a:rPr lang="en-US" sz="1443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For higher accuracy, ratio of open- and close-loop gains should be 1000 and more</a:t>
            </a:r>
          </a:p>
          <a:p>
            <a:pPr marL="534301" lvl="1" indent="-274892">
              <a:buFont typeface="Wingdings" panose="05000000000000000000" pitchFamily="2" charset="2"/>
              <a:buChar char="§"/>
            </a:pPr>
            <a:endParaRPr lang="en-US" sz="1443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191413" indent="-274892">
              <a:buFont typeface="Wingdings" panose="05000000000000000000" pitchFamily="2" charset="2"/>
              <a:buChar char="q"/>
            </a:pPr>
            <a:endParaRPr lang="en-US" sz="1732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99C9763-C9B5-4474-9848-37CA4E201D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659"/>
            <a:ext cx="1036101" cy="111624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64E4D40-E4A2-42B9-A388-E66ACE5984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2440" y="6490260"/>
            <a:ext cx="1470959" cy="36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113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00" y="508459"/>
            <a:ext cx="6760000" cy="1143000"/>
          </a:xfrm>
        </p:spPr>
        <p:txBody>
          <a:bodyPr/>
          <a:lstStyle/>
          <a:p>
            <a:r>
              <a:rPr lang="en-US" sz="4000" b="1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Temperature sensors</a:t>
            </a:r>
            <a:br>
              <a:rPr lang="en-US" sz="4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9A42DA-B9C4-4F63-8F50-56794EEC8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409" y="4353414"/>
            <a:ext cx="1714739" cy="1733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124937-C5A1-42E8-B372-C984C81BC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662" y="1701906"/>
            <a:ext cx="1724266" cy="18766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2D6F07-9C9A-43E7-BDA5-A3861EA389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584" y="1662282"/>
            <a:ext cx="1629002" cy="18766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1EC95B-FE19-4419-A920-524571F6FB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14" y="1911096"/>
            <a:ext cx="4601217" cy="24292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BCC359F-6352-45EA-A1F9-39EB855F51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6533" y="4457774"/>
            <a:ext cx="1714740" cy="20201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23FB27D-90ED-42F5-859E-53F5761413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2995" y="4507519"/>
            <a:ext cx="3801005" cy="1571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0A2462-5996-4EC0-85EE-57C41A04F6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3659"/>
            <a:ext cx="1036101" cy="11162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DF0793-3F61-48B5-88C1-FB67EB1A2CB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2440" y="6490260"/>
            <a:ext cx="1470959" cy="36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052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508459"/>
            <a:ext cx="7467600" cy="1143000"/>
          </a:xfrm>
        </p:spPr>
        <p:txBody>
          <a:bodyPr/>
          <a:lstStyle/>
          <a:p>
            <a:r>
              <a:rPr lang="en-US" sz="4000" b="1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Temperature sensors – IC LM35</a:t>
            </a:r>
            <a:br>
              <a:rPr lang="en-US" sz="4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C17B4B-EFBA-4281-8ADD-61E63EFC8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057400"/>
            <a:ext cx="3602156" cy="38959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1E413C-6FA2-495A-9F76-2819C0D5E34E}"/>
              </a:ext>
            </a:extLst>
          </p:cNvPr>
          <p:cNvSpPr txBox="1"/>
          <p:nvPr/>
        </p:nvSpPr>
        <p:spPr>
          <a:xfrm>
            <a:off x="3569906" y="4217214"/>
            <a:ext cx="526782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vi-VN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ADC 10bit: </a:t>
            </a:r>
            <a:r>
              <a:rPr lang="vi-VN" sz="2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Vin = (Vref*ADC)/1024</a:t>
            </a:r>
            <a:endParaRPr lang="vi-VN" sz="26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/>
            <a:r>
              <a:rPr lang="vi-VN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ADC 8bit: </a:t>
            </a:r>
            <a:r>
              <a:rPr lang="vi-VN" sz="2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Vin = (Vref*ADC)/256</a:t>
            </a:r>
            <a:endParaRPr lang="vi-VN" sz="26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A8CD2F-D342-459F-A329-F3DE11824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659"/>
            <a:ext cx="1036101" cy="11162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7AD839-99D1-46BC-9CA3-4CC79B83AA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440" y="6490260"/>
            <a:ext cx="1470959" cy="36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606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00" y="508459"/>
            <a:ext cx="6760000" cy="1143000"/>
          </a:xfrm>
        </p:spPr>
        <p:txBody>
          <a:bodyPr/>
          <a:lstStyle/>
          <a:p>
            <a:r>
              <a:rPr lang="en-US" sz="4000" b="1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Sound sensors</a:t>
            </a:r>
            <a:endParaRPr lang="en-US" sz="40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2" descr="What is voice recognition (speaker recognition)? - Definition from  WhatIs.com">
            <a:extLst>
              <a:ext uri="{FF2B5EF4-FFF2-40B4-BE49-F238E27FC236}">
                <a16:creationId xmlns:a16="http://schemas.microsoft.com/office/drawing/2014/main" id="{07AAC2F2-F42F-46EC-B9FF-DD1C69B5B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50" y="1981200"/>
            <a:ext cx="8789924" cy="4192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C4A58D-1746-42FB-AB28-60F773531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659"/>
            <a:ext cx="1036101" cy="11162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EB1930-14AD-4D7D-B14A-D9184EBC35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440" y="6490260"/>
            <a:ext cx="1470959" cy="36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75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00" y="508459"/>
            <a:ext cx="6760000" cy="1143000"/>
          </a:xfrm>
        </p:spPr>
        <p:txBody>
          <a:bodyPr/>
          <a:lstStyle/>
          <a:p>
            <a:r>
              <a:rPr lang="en-US" sz="4000" b="1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Sound sensors</a:t>
            </a:r>
            <a:endParaRPr lang="en-US" sz="40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27985D-713C-40BB-A875-3CA83799F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30150"/>
            <a:ext cx="7969738" cy="42011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E4CA82-C6ED-4A28-8194-BE53339B8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659"/>
            <a:ext cx="1036101" cy="11162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78E9CF-AB4B-4F0C-B462-E4B6D4DE85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440" y="6490260"/>
            <a:ext cx="1470959" cy="36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155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00" y="508459"/>
            <a:ext cx="6760000" cy="1143000"/>
          </a:xfrm>
        </p:spPr>
        <p:txBody>
          <a:bodyPr/>
          <a:lstStyle/>
          <a:p>
            <a:r>
              <a:rPr lang="en-US" sz="4000" b="1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Sound sensors</a:t>
            </a:r>
            <a:endParaRPr lang="en-US" sz="40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FB8B9A-686A-4200-8315-58FB28AA3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600" y="1347887"/>
            <a:ext cx="2286000" cy="18670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0FF130-C684-4BDF-B552-41A8E2C4F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120" y="3494138"/>
            <a:ext cx="7725279" cy="29449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159A07-B3AA-4844-ABD5-5782835C50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8590" y="1301884"/>
            <a:ext cx="2725809" cy="19131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B7D259-7B13-4E10-9E1F-26969DF9B6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659"/>
            <a:ext cx="1036101" cy="11162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C8017E-968A-4B1F-B4CB-18C9CEB211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2440" y="6490260"/>
            <a:ext cx="1470959" cy="36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5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00" y="508459"/>
            <a:ext cx="6760000" cy="1143000"/>
          </a:xfrm>
        </p:spPr>
        <p:txBody>
          <a:bodyPr/>
          <a:lstStyle/>
          <a:p>
            <a:r>
              <a:rPr lang="en-US" sz="4000" b="1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 sensors</a:t>
            </a:r>
            <a:endParaRPr lang="en-US" sz="40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AD19FD2-E703-4CFA-B8A9-79784CEF1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1651459"/>
            <a:ext cx="4450129" cy="43769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AB1AE6-185D-41F9-B9D9-D903B958D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659"/>
            <a:ext cx="1036101" cy="11162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9F9DA6-01D3-4C61-BD2C-409E5C68EF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440" y="6490260"/>
            <a:ext cx="1470959" cy="36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309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00" y="508459"/>
            <a:ext cx="6760000" cy="1143000"/>
          </a:xfrm>
        </p:spPr>
        <p:txBody>
          <a:bodyPr/>
          <a:lstStyle/>
          <a:p>
            <a:r>
              <a:rPr lang="en-US" sz="4000" b="1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 sensors</a:t>
            </a:r>
            <a:endParaRPr lang="en-US" sz="40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443B28-DA9D-455A-ACB7-3F2CE6FB6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07" y="2067393"/>
            <a:ext cx="3276600" cy="27411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0590A3-BD46-4735-8500-46DCBDAC7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3983" y="4716349"/>
            <a:ext cx="3743847" cy="17147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D490911-5CCB-4D4B-9A1F-8198B0312C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021" y="1747603"/>
            <a:ext cx="2362530" cy="33627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877155F-F746-4387-A958-FAB41E2A8F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1770" y="1930612"/>
            <a:ext cx="2219635" cy="23911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A5E2A1-FB7E-40F9-86A0-51F142F8DE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659"/>
            <a:ext cx="1036101" cy="11162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486EC0-09DC-42EB-B29C-5D2DA89173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2440" y="6490260"/>
            <a:ext cx="1470959" cy="36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100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00" y="508459"/>
            <a:ext cx="6760000" cy="1143000"/>
          </a:xfrm>
        </p:spPr>
        <p:txBody>
          <a:bodyPr/>
          <a:lstStyle/>
          <a:p>
            <a:r>
              <a:rPr lang="en-US" sz="4000" b="1" i="0" dirty="0" err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Ultranic</a:t>
            </a:r>
            <a:r>
              <a:rPr lang="en-US" sz="4000" b="1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Distance sensors</a:t>
            </a:r>
            <a:endParaRPr lang="en-US" sz="40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40DA0-B282-4332-AD4B-F157805B4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574" y="1942684"/>
            <a:ext cx="5955126" cy="24326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CBB9FB-93BB-4219-8106-23433EF58A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4352575"/>
            <a:ext cx="7878274" cy="25054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B31AC9-FF41-4208-B20A-D399451663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659"/>
            <a:ext cx="1036101" cy="111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054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00" y="508459"/>
            <a:ext cx="6760000" cy="1143000"/>
          </a:xfrm>
        </p:spPr>
        <p:txBody>
          <a:bodyPr/>
          <a:lstStyle/>
          <a:p>
            <a:r>
              <a:rPr lang="en-US" sz="4000" b="1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PIR sensors</a:t>
            </a:r>
            <a:endParaRPr lang="en-US" sz="40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Cảm Biến Thân Nhiệt Chuyển Động PIR HC-SR501">
            <a:extLst>
              <a:ext uri="{FF2B5EF4-FFF2-40B4-BE49-F238E27FC236}">
                <a16:creationId xmlns:a16="http://schemas.microsoft.com/office/drawing/2014/main" id="{DA06380D-B600-497F-A3C2-2234714B5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24" y="1930612"/>
            <a:ext cx="20955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0CF9A9-1201-4914-9C2D-34210E2491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5487" y="1284281"/>
            <a:ext cx="5106113" cy="37724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E6B08A-626E-4353-BCBC-68D593C101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154" y="4412173"/>
            <a:ext cx="3990892" cy="18473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6290B2-B746-415B-8498-3E3FB96DF5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659"/>
            <a:ext cx="1036101" cy="11162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57E45F-067E-4C78-8C83-3379C24D99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2440" y="6490260"/>
            <a:ext cx="1470959" cy="36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246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00" y="508459"/>
            <a:ext cx="6760000" cy="1143000"/>
          </a:xfrm>
        </p:spPr>
        <p:txBody>
          <a:bodyPr/>
          <a:lstStyle/>
          <a:p>
            <a:r>
              <a:rPr lang="en-US" sz="4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</a:t>
            </a:r>
            <a:r>
              <a:rPr lang="en-US" sz="4000" b="1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sensors</a:t>
            </a:r>
            <a:endParaRPr lang="en-US" sz="40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Cảm Biến Khí Gas (LPG/CO/CH4) MQ-2">
            <a:extLst>
              <a:ext uri="{FF2B5EF4-FFF2-40B4-BE49-F238E27FC236}">
                <a16:creationId xmlns:a16="http://schemas.microsoft.com/office/drawing/2014/main" id="{B739FBAB-17F9-4D5B-B770-0F3E5E934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50" y="1957116"/>
            <a:ext cx="1883200" cy="188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ảm Biến Khí Gas (LPG/CO/CH4) MQ-2">
            <a:extLst>
              <a:ext uri="{FF2B5EF4-FFF2-40B4-BE49-F238E27FC236}">
                <a16:creationId xmlns:a16="http://schemas.microsoft.com/office/drawing/2014/main" id="{99880345-4D60-4F2A-A217-C3608D34D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338" y="1558010"/>
            <a:ext cx="5359649" cy="2425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Gas-sensor">
            <a:extLst>
              <a:ext uri="{FF2B5EF4-FFF2-40B4-BE49-F238E27FC236}">
                <a16:creationId xmlns:a16="http://schemas.microsoft.com/office/drawing/2014/main" id="{684E82F2-9E4E-470D-8E0B-B6D29F27B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32898"/>
            <a:ext cx="6905625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A84DF1-CFDC-4322-A5D3-A6FB729C94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659"/>
            <a:ext cx="1036101" cy="11162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845391-AA27-4F17-B2B5-20A7000D9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2440" y="6490260"/>
            <a:ext cx="1470959" cy="36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74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C2701-FC09-43D2-9F25-86E1477FA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6043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THANK YOU</a:t>
            </a:r>
          </a:p>
        </p:txBody>
      </p:sp>
      <p:pic>
        <p:nvPicPr>
          <p:cNvPr id="1026" name="Picture 2" descr="Bộ kit học tập IoT sử dụng Arduino Uno R3 và Shield Ethernet W5100">
            <a:extLst>
              <a:ext uri="{FF2B5EF4-FFF2-40B4-BE49-F238E27FC236}">
                <a16:creationId xmlns:a16="http://schemas.microsoft.com/office/drawing/2014/main" id="{00A2BF06-EB9B-4C3F-BFCD-B158061F3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312138"/>
            <a:ext cx="5943600" cy="5088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3F6BB8-13AD-45C2-B377-57C3B1EDC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659"/>
            <a:ext cx="1036101" cy="11162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BBA7E2-5790-4179-B954-2C3D48AF85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440" y="6490260"/>
            <a:ext cx="1470959" cy="36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10727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soft_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lumMod val="40000"/>
            <a:lumOff val="6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13862</TotalTime>
  <Words>264</Words>
  <Application>Microsoft Office PowerPoint</Application>
  <PresentationFormat>On-screen Show (4:3)</PresentationFormat>
  <Paragraphs>69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Bookman Old Style</vt:lpstr>
      <vt:lpstr>Calibri</vt:lpstr>
      <vt:lpstr>Open Sans</vt:lpstr>
      <vt:lpstr>Roboto</vt:lpstr>
      <vt:lpstr>Times New Roman</vt:lpstr>
      <vt:lpstr>Wingdings</vt:lpstr>
      <vt:lpstr>YhblpwAdvP6975</vt:lpstr>
      <vt:lpstr>Custom Design</vt:lpstr>
      <vt:lpstr>Fsoft_theme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Temperature sensors  </vt:lpstr>
      <vt:lpstr>Temperature sensors – IC LM35  </vt:lpstr>
      <vt:lpstr>Sound sensors</vt:lpstr>
      <vt:lpstr>Sound sensors</vt:lpstr>
      <vt:lpstr>Sound sensors</vt:lpstr>
      <vt:lpstr>Light sensors</vt:lpstr>
      <vt:lpstr>Light sensors</vt:lpstr>
      <vt:lpstr>Ultranic Distance sensors</vt:lpstr>
      <vt:lpstr>PIR sensors</vt:lpstr>
      <vt:lpstr>GAS sensors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Trong Nhan</dc:creator>
  <cp:lastModifiedBy>Đặng Văn Hiếu</cp:lastModifiedBy>
  <cp:revision>988</cp:revision>
  <dcterms:created xsi:type="dcterms:W3CDTF">2010-09-14T03:27:51Z</dcterms:created>
  <dcterms:modified xsi:type="dcterms:W3CDTF">2025-09-19T14:44:35Z</dcterms:modified>
</cp:coreProperties>
</file>